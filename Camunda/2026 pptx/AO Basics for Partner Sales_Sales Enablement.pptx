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0" r:id="rId5"/>
    <p:sldId id="271" r:id="rId6"/>
    <p:sldId id="265" r:id="rId7"/>
    <p:sldId id="275" r:id="rId8"/>
    <p:sldId id="272" r:id="rId9"/>
    <p:sldId id="273" r:id="rId10"/>
    <p:sldId id="259" r:id="rId11"/>
    <p:sldId id="260" r:id="rId12"/>
    <p:sldId id="261" r:id="rId13"/>
    <p:sldId id="262" r:id="rId14"/>
    <p:sldId id="263" r:id="rId15"/>
    <p:sldId id="264" r:id="rId16"/>
    <p:sldId id="266" r:id="rId17"/>
    <p:sldId id="267" r:id="rId18"/>
    <p:sldId id="268" r:id="rId1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i3PkbdlNHYjxC5WXAjFqGQas8jD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ga Kopczynska" initials="" lastIdx="5" clrIdx="0"/>
  <p:cmAuthor id="1" name="David Natker" initials="" lastIdx="4" clrIdx="1"/>
  <p:cmAuthor id="2" name="Unknown User1" initials="Unknown User1" lastIdx="1" clrIdx="2"/>
  <p:cmAuthor id="4" name="Unknown User2" initials="Unknown User2" lastIdx="5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</a:rPr>
              <a:t>Path to revenue: 1. Rapid prototype demo (10-14 days) 2. POC with Exit Criteria (45-60 days) 3. Production Launch (180 days) 4. </a:t>
            </a:r>
            <a:r>
              <a:rPr lang="en-US" sz="1200" dirty="0" err="1">
                <a:solidFill>
                  <a:schemeClr val="dk1"/>
                </a:solidFill>
              </a:rPr>
              <a:t>LoB</a:t>
            </a:r>
            <a:r>
              <a:rPr lang="en-US" sz="1200" dirty="0">
                <a:solidFill>
                  <a:schemeClr val="dk1"/>
                </a:solidFill>
              </a:rPr>
              <a:t> Expansion (ongoing)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686800" y="3200400"/>
            <a:ext cx="3200400" cy="3200400"/>
          </a:xfrm>
          <a:prstGeom prst="ellipse">
            <a:avLst/>
          </a:prstGeom>
          <a:solidFill>
            <a:srgbClr val="FC5D0D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26875" y="382410"/>
            <a:ext cx="256032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457200" y="1005840"/>
            <a:ext cx="2221992" cy="292608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005840"/>
            <a:ext cx="22219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1050" b="1" dirty="0">
                <a:solidFill>
                  <a:srgbClr val="FFFFFF"/>
                </a:solidFill>
              </a:rPr>
              <a:t>PARTN</a:t>
            </a:r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 SALES ENABLEMENT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600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lang="en-US" sz="4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 Orchestration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4688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Basics for Partner Sales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291840"/>
            <a:ext cx="6858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Your fast-track guide to understanding, pitching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and winning with Agentic Orchestration.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4297680"/>
            <a:ext cx="2651760" cy="1097280"/>
          </a:xfrm>
          <a:prstGeom prst="rect">
            <a:avLst/>
          </a:prstGeom>
          <a:solidFill>
            <a:srgbClr val="FFFFFF">
              <a:alpha val="10196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315968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2600"/>
              <a:buFont typeface="Arial"/>
              <a:buNone/>
            </a:pPr>
            <a:r>
              <a:rPr lang="en-US" sz="26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71%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791456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enterprises already use AI agents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383280" y="4297680"/>
            <a:ext cx="2651760" cy="1097280"/>
          </a:xfrm>
          <a:prstGeom prst="rect">
            <a:avLst/>
          </a:prstGeom>
          <a:solidFill>
            <a:srgbClr val="FFFFFF">
              <a:alpha val="10196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383280" y="4315968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2600"/>
              <a:buFont typeface="Arial"/>
              <a:buNone/>
            </a:pPr>
            <a:r>
              <a:rPr lang="en-US" sz="26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383280" y="4791456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 reach production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309360" y="4297680"/>
            <a:ext cx="2651760" cy="1097280"/>
          </a:xfrm>
          <a:prstGeom prst="rect">
            <a:avLst/>
          </a:prstGeom>
          <a:solidFill>
            <a:srgbClr val="FFFFFF">
              <a:alpha val="10196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309360" y="4315968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2600"/>
              <a:buFont typeface="Arial"/>
              <a:buNone/>
            </a:pPr>
            <a:r>
              <a:rPr lang="en-US" sz="26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$450B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309360" y="4791456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services market by 2035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57200" y="640080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camunda.com  |  partners.camunda.com  |  CONFIDENTIAL — PARTNER USE ONLY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1371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WHAT IS AGENTIC ORCHESTRATION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sentence: AI agents get smart. Camunda keeps them safe.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1234440"/>
            <a:ext cx="5303520" cy="3840480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1234440"/>
            <a:ext cx="5303520" cy="7315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14173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🎼  </a:t>
            </a:r>
            <a:r>
              <a:rPr lang="en-US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Think of a conductor...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1901952"/>
            <a:ext cx="493776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350"/>
              <a:buFont typeface="Arial"/>
              <a:buNone/>
            </a:pPr>
            <a:r>
              <a:rPr lang="en-US" sz="18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 conductor doesn't play every instrument. They coordinate every musician — at the right moment, in the right order — to produce one result.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350"/>
              <a:buFont typeface="Arial"/>
              <a:buNone/>
            </a:pPr>
            <a:r>
              <a:rPr lang="en-US" sz="18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Agentic Orchestration does the same for AI agents, people and systems inside your customer's business processes.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00800" y="1234440"/>
            <a:ext cx="2377440" cy="141732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3720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6400800" y="1792224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Rules-based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869680" y="164592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418320" y="1234440"/>
            <a:ext cx="2377440" cy="1417320"/>
          </a:xfrm>
          <a:prstGeom prst="rect">
            <a:avLst/>
          </a:prstGeom>
          <a:solidFill>
            <a:srgbClr val="6967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21240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9418320" y="1792224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Reasoning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Exceptions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00800" y="27889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00800" y="3246120"/>
            <a:ext cx="5394960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00800" y="3310128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governed end-to-end process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00800" y="384048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Auditable · Compliant · Human-in-the-loop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65760" y="5257800"/>
            <a:ext cx="11430000" cy="126187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48640" y="53492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"AI builds agents. Camunda makes sure they don't go off-script."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single most important thing your customer needs to hear.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21240" y="118872"/>
            <a:ext cx="2805423" cy="4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1371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WHY NOW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customers are already experimenting.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They need someone to help them operationalize.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1508760"/>
            <a:ext cx="3566160" cy="3474720"/>
          </a:xfrm>
          <a:prstGeom prst="rect">
            <a:avLst/>
          </a:prstGeom>
          <a:solidFill>
            <a:srgbClr val="FFFFFF">
              <a:alpha val="92156"/>
            </a:srgbClr>
          </a:solidFill>
          <a:ln w="9525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1508760"/>
            <a:ext cx="3566160" cy="54864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691640"/>
            <a:ext cx="438912" cy="438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365760" y="2212848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71%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2920" y="3017520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enterprises already use AI agents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02920" y="35661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000FF"/>
                </a:solidFill>
              </a:rPr>
              <a:t>T</a:t>
            </a:r>
            <a:r>
              <a:rPr lang="en-US" sz="1600">
                <a:solidFill>
                  <a:srgbClr val="0000FF"/>
                </a:solidFill>
              </a:rPr>
              <a:t>he ado</a:t>
            </a:r>
            <a:r>
              <a:rPr lang="en-US" sz="1500">
                <a:solidFill>
                  <a:srgbClr val="0000FF"/>
                </a:solidFill>
              </a:rPr>
              <a:t>ption wave has started — your customers are already in it.</a:t>
            </a:r>
            <a:endParaRPr sz="1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206240" y="1508760"/>
            <a:ext cx="3566160" cy="3474720"/>
          </a:xfrm>
          <a:prstGeom prst="rect">
            <a:avLst/>
          </a:prstGeom>
          <a:solidFill>
            <a:srgbClr val="FFFFFF">
              <a:alpha val="92156"/>
            </a:srgbClr>
          </a:solidFill>
          <a:ln w="9525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206240" y="1508760"/>
            <a:ext cx="3566160" cy="54864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120" y="169164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4206240" y="2212848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343400" y="3017520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agentic use cases reached production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343400" y="35661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100"/>
              <a:buFont typeface="Arial"/>
              <a:buNone/>
            </a:pPr>
            <a:r>
              <a:rPr lang="en-US">
                <a:solidFill>
                  <a:srgbClr val="0000FF"/>
                </a:solidFill>
              </a:rPr>
              <a:t>T</a:t>
            </a:r>
            <a:r>
              <a:rPr lang="en-US" sz="1500">
                <a:solidFill>
                  <a:srgbClr val="0000FF"/>
                </a:solidFill>
              </a:rPr>
              <a:t>here's a massive gap between experimentation and real outcomes.</a:t>
            </a:r>
            <a:endParaRPr sz="1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046720" y="1508760"/>
            <a:ext cx="3566160" cy="3474720"/>
          </a:xfrm>
          <a:prstGeom prst="rect">
            <a:avLst/>
          </a:prstGeom>
          <a:solidFill>
            <a:srgbClr val="FFFFFF">
              <a:alpha val="92156"/>
            </a:srgbClr>
          </a:solidFill>
          <a:ln w="9525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046720" y="1508760"/>
            <a:ext cx="3566160" cy="54864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600" y="1691640"/>
            <a:ext cx="438912" cy="438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8046720" y="2212848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183880" y="3017520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 AI vision vs. reality gap is significant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183880" y="35661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000FF"/>
                </a:solidFill>
              </a:rPr>
              <a:t>CIOs are being asked to show ROI. This is your opening.</a:t>
            </a:r>
            <a:endParaRPr sz="1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5760" y="5212080"/>
            <a:ext cx="11430000" cy="1325880"/>
          </a:xfrm>
          <a:prstGeom prst="rect">
            <a:avLst/>
          </a:prstGeom>
          <a:solidFill>
            <a:srgbClr val="6967FF">
              <a:alpha val="80000"/>
            </a:srgbClr>
          </a:solidFill>
          <a:ln w="9525" cap="flat" cmpd="sng">
            <a:solidFill>
              <a:srgbClr val="78A9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53766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987552" y="53492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56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56F"/>
                </a:solidFill>
                <a:latin typeface="Arial"/>
                <a:ea typeface="Arial"/>
                <a:cs typeface="Arial"/>
                <a:sym typeface="Arial"/>
              </a:rPr>
              <a:t>THE SALES SIGNAL: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40" y="568756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450" dirty="0">
                <a:solidFill>
                  <a:srgbClr val="FFFFFF"/>
                </a:solidFill>
              </a:rPr>
              <a:t>When a customer </a:t>
            </a:r>
            <a:r>
              <a:rPr lang="en-US" sz="14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says they're "exploring AI agents" or "struggling to scale automation" — that's your Agentic Orchestration conversation. The gap between experimenting and operating safely is exactly where Camunda wins.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6601968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Arial"/>
              <a:buNone/>
            </a:pPr>
            <a:r>
              <a:rPr lang="en-US" sz="80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Source: Camunda State of Agentic Orchestration 2026 | Coleman Parkes, n=1,150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69130" y="137152"/>
            <a:ext cx="2992396" cy="4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range_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9" name="logo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26875" y="382410"/>
            <a:ext cx="256032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sec"/>
          <p:cNvSpPr/>
          <p:nvPr/>
        </p:nvSpPr>
        <p:spPr>
          <a:xfrm>
            <a:off x="457200" y="457200"/>
            <a:ext cx="30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WHO WE ARE</a:t>
            </a:r>
            <a:endParaRPr lang="en-US" sz="1050" b="1" dirty="0">
              <a:solidFill>
                <a:srgbClr val="FC5D0D"/>
              </a:solidFill>
            </a:endParaRPr>
          </a:p>
        </p:txBody>
      </p:sp>
      <p:sp>
        <p:nvSpPr>
          <p:cNvPr id="21" name="title"/>
          <p:cNvSpPr/>
          <p:nvPr/>
        </p:nvSpPr>
        <p:spPr>
          <a:xfrm>
            <a:off x="457200" y="640080"/>
            <a:ext cx="860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Camunda is the enterprise platform for</a:t>
            </a:r>
          </a:p>
        </p:txBody>
      </p:sp>
      <p:sp>
        <p:nvSpPr>
          <p:cNvPr id="22" name="title2"/>
          <p:cNvSpPr/>
          <p:nvPr/>
        </p:nvSpPr>
        <p:spPr>
          <a:xfrm>
            <a:off x="457200" y="1280160"/>
            <a:ext cx="860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Agentic Orchestration.</a:t>
            </a:r>
          </a:p>
        </p:txBody>
      </p:sp>
      <p:sp>
        <p:nvSpPr>
          <p:cNvPr id="23" name="sub"/>
          <p:cNvSpPr/>
          <p:nvPr/>
        </p:nvSpPr>
        <p:spPr>
          <a:xfrm>
            <a:off x="457200" y="2010000"/>
            <a:ext cx="8997696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We make AI agents enterprise-safe — governed, auditable, and connected to the real systems your clients run on.</a:t>
            </a:r>
          </a:p>
        </p:txBody>
      </p:sp>
      <p:sp>
        <p:nvSpPr>
          <p:cNvPr id="30" name="stat_bg_30"/>
          <p:cNvSpPr/>
          <p:nvPr/>
        </p:nvSpPr>
        <p:spPr>
          <a:xfrm>
            <a:off x="457200" y="2650000"/>
            <a:ext cx="2800000" cy="1097280"/>
          </a:xfrm>
          <a:prstGeom prst="rect">
            <a:avLst/>
          </a:prstGeom>
          <a:solidFill>
            <a:srgbClr val="FFFFFF">
              <a:alpha val="10196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31" name="stat_30"/>
          <p:cNvSpPr/>
          <p:nvPr/>
        </p:nvSpPr>
        <p:spPr>
          <a:xfrm>
            <a:off x="457200" y="2740000"/>
            <a:ext cx="280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700+</a:t>
            </a:r>
          </a:p>
        </p:txBody>
      </p:sp>
      <p:sp>
        <p:nvSpPr>
          <p:cNvPr id="32" name="lbl_30"/>
          <p:cNvSpPr/>
          <p:nvPr/>
        </p:nvSpPr>
        <p:spPr>
          <a:xfrm>
            <a:off x="457200" y="3242920"/>
            <a:ext cx="2800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enterprise customers globally</a:t>
            </a:r>
          </a:p>
        </p:txBody>
      </p:sp>
      <p:sp>
        <p:nvSpPr>
          <p:cNvPr id="40" name="stat_bg_40"/>
          <p:cNvSpPr/>
          <p:nvPr/>
        </p:nvSpPr>
        <p:spPr>
          <a:xfrm>
            <a:off x="3500000" y="2650000"/>
            <a:ext cx="2800000" cy="1097280"/>
          </a:xfrm>
          <a:prstGeom prst="rect">
            <a:avLst/>
          </a:prstGeom>
          <a:solidFill>
            <a:srgbClr val="FFFFFF">
              <a:alpha val="10196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41" name="stat_40"/>
          <p:cNvSpPr/>
          <p:nvPr/>
        </p:nvSpPr>
        <p:spPr>
          <a:xfrm>
            <a:off x="3500000" y="2740000"/>
            <a:ext cx="280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12 of 15</a:t>
            </a:r>
          </a:p>
        </p:txBody>
      </p:sp>
      <p:sp>
        <p:nvSpPr>
          <p:cNvPr id="42" name="lbl_40"/>
          <p:cNvSpPr/>
          <p:nvPr/>
        </p:nvSpPr>
        <p:spPr>
          <a:xfrm>
            <a:off x="3500000" y="3242920"/>
            <a:ext cx="2800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 US banks</a:t>
            </a:r>
          </a:p>
        </p:txBody>
      </p:sp>
      <p:sp>
        <p:nvSpPr>
          <p:cNvPr id="50" name="stat_bg_50"/>
          <p:cNvSpPr/>
          <p:nvPr/>
        </p:nvSpPr>
        <p:spPr>
          <a:xfrm>
            <a:off x="6543000" y="2650000"/>
            <a:ext cx="2800000" cy="1097280"/>
          </a:xfrm>
          <a:prstGeom prst="rect">
            <a:avLst/>
          </a:prstGeom>
          <a:solidFill>
            <a:srgbClr val="FFFFFF">
              <a:alpha val="10196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51" name="stat_50"/>
          <p:cNvSpPr/>
          <p:nvPr/>
        </p:nvSpPr>
        <p:spPr>
          <a:xfrm>
            <a:off x="6543000" y="2740000"/>
            <a:ext cx="280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5,000+</a:t>
            </a:r>
          </a:p>
        </p:txBody>
      </p:sp>
      <p:sp>
        <p:nvSpPr>
          <p:cNvPr id="52" name="lbl_50"/>
          <p:cNvSpPr/>
          <p:nvPr/>
        </p:nvSpPr>
        <p:spPr>
          <a:xfrm>
            <a:off x="6543000" y="3242920"/>
            <a:ext cx="2800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production use cases</a:t>
            </a:r>
          </a:p>
        </p:txBody>
      </p:sp>
      <p:sp>
        <p:nvSpPr>
          <p:cNvPr id="60" name="who_left_hdr"/>
          <p:cNvSpPr/>
          <p:nvPr/>
        </p:nvSpPr>
        <p:spPr>
          <a:xfrm>
            <a:off x="457200" y="4050000"/>
            <a:ext cx="5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C5D0D"/>
                </a:solidFill>
              </a:rPr>
              <a:t>Industries we serve:</a:t>
            </a:r>
            <a:r>
              <a:rPr lang="en-US" sz="110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 we serve:</a:t>
            </a:r>
          </a:p>
        </p:txBody>
      </p:sp>
      <p:sp>
        <p:nvSpPr>
          <p:cNvPr id="61" name="who_right_hdr"/>
          <p:cNvSpPr/>
          <p:nvPr/>
        </p:nvSpPr>
        <p:spPr>
          <a:xfrm>
            <a:off x="5900000" y="4050000"/>
            <a:ext cx="5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Trusted by:</a:t>
            </a:r>
          </a:p>
        </p:txBody>
      </p:sp>
      <p:sp>
        <p:nvSpPr>
          <p:cNvPr id="62" name="who_industries"/>
          <p:cNvSpPr/>
          <p:nvPr/>
        </p:nvSpPr>
        <p:spPr>
          <a:xfrm>
            <a:off x="457200" y="4380000"/>
            <a:ext cx="5200000" cy="1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Banking &amp; Financial Services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Insurance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Telecom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Healthcare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 Sector  ·  Technology  ·  Logistics</a:t>
            </a:r>
          </a:p>
        </p:txBody>
      </p:sp>
      <p:sp>
        <p:nvSpPr>
          <p:cNvPr id="63" name="who_customers"/>
          <p:cNvSpPr/>
          <p:nvPr/>
        </p:nvSpPr>
        <p:spPr>
          <a:xfrm>
            <a:off x="5900000" y="4380000"/>
            <a:ext cx="5200000" cy="1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Goldman Sachs  ·  Barclays  ·  NatWest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Atlassian  ·  Intuit  ·  Generali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T-Mobile  ·  Vodafone  ·  GLS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 Dept. of Veterans Affairs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Gartner BOAT Visionary  ·  Forrester Strong Performer</a:t>
            </a:r>
          </a:p>
        </p:txBody>
      </p:sp>
      <p:sp>
        <p:nvSpPr>
          <p:cNvPr id="70" name="footer_70"/>
          <p:cNvSpPr/>
          <p:nvPr/>
        </p:nvSpPr>
        <p:spPr>
          <a:xfrm>
            <a:off x="457200" y="640080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camunda.com  |  partners.camunda.com  |  CONFIDENTIAL — PARTNER USE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range_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9" name="logo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26875" y="382410"/>
            <a:ext cx="256032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sec"/>
          <p:cNvSpPr/>
          <p:nvPr/>
        </p:nvSpPr>
        <p:spPr>
          <a:xfrm>
            <a:off x="457200" y="457200"/>
            <a:ext cx="30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THE #1 COMPETITIVE DIFFERENTIATOR</a:t>
            </a:r>
          </a:p>
        </p:txBody>
      </p:sp>
      <p:sp>
        <p:nvSpPr>
          <p:cNvPr id="21" name="title"/>
          <p:cNvSpPr/>
          <p:nvPr/>
        </p:nvSpPr>
        <p:spPr>
          <a:xfrm>
            <a:off x="457199" y="1223658"/>
            <a:ext cx="11429995" cy="6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platform puts guardrails 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</a:t>
            </a: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agent.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Camunda puts them 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</a:t>
            </a: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it.</a:t>
            </a:r>
            <a:endParaRPr lang="en-US" sz="28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num_70"/>
          <p:cNvSpPr/>
          <p:nvPr/>
        </p:nvSpPr>
        <p:spPr>
          <a:xfrm>
            <a:off x="457200" y="5360000"/>
            <a:ext cx="457200" cy="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rgbClr val="FC5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footer_80"/>
          <p:cNvSpPr/>
          <p:nvPr/>
        </p:nvSpPr>
        <p:spPr>
          <a:xfrm>
            <a:off x="457200" y="640080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camunda.com  |  partners.camunda.com  |  CONFIDENTIAL — PARTNER USE ONLY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D0214C-97A2-15E3-8B88-AA22F5724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29" y="2320858"/>
            <a:ext cx="11630934" cy="3105052"/>
          </a:xfrm>
          <a:prstGeom prst="rect">
            <a:avLst/>
          </a:prstGeom>
        </p:spPr>
      </p:pic>
      <p:sp>
        <p:nvSpPr>
          <p:cNvPr id="5" name="Shape 42">
            <a:extLst>
              <a:ext uri="{FF2B5EF4-FFF2-40B4-BE49-F238E27FC236}">
                <a16:creationId xmlns:a16="http://schemas.microsoft.com/office/drawing/2014/main" id="{185DC795-EE3C-8C1A-832D-677764D80F86}"/>
              </a:ext>
            </a:extLst>
          </p:cNvPr>
          <p:cNvSpPr/>
          <p:nvPr/>
        </p:nvSpPr>
        <p:spPr>
          <a:xfrm>
            <a:off x="356728" y="5396000"/>
            <a:ext cx="11630934" cy="914400"/>
          </a:xfrm>
          <a:prstGeom prst="rect">
            <a:avLst/>
          </a:prstGeom>
          <a:solidFill>
            <a:srgbClr val="FC5D0D"/>
          </a:solidFill>
          <a:ln w="12700">
            <a:solidFill>
              <a:srgbClr val="FC5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3">
            <a:extLst>
              <a:ext uri="{FF2B5EF4-FFF2-40B4-BE49-F238E27FC236}">
                <a16:creationId xmlns:a16="http://schemas.microsoft.com/office/drawing/2014/main" id="{88F6A078-623C-33DE-893E-E4F3B2FDA3BB}"/>
              </a:ext>
            </a:extLst>
          </p:cNvPr>
          <p:cNvSpPr/>
          <p:nvPr/>
        </p:nvSpPr>
        <p:spPr>
          <a:xfrm>
            <a:off x="557347" y="5407622"/>
            <a:ext cx="112779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platform puts guardrails around an agent. Only Camunda can stop it between deciding and acting."</a:t>
            </a:r>
            <a:endParaRPr lang="en-US" sz="1400" dirty="0"/>
          </a:p>
        </p:txBody>
      </p:sp>
      <p:sp>
        <p:nvSpPr>
          <p:cNvPr id="7" name="Text 44">
            <a:extLst>
              <a:ext uri="{FF2B5EF4-FFF2-40B4-BE49-F238E27FC236}">
                <a16:creationId xmlns:a16="http://schemas.microsoft.com/office/drawing/2014/main" id="{4B995647-6673-EE07-E0A0-50AFFB619100}"/>
              </a:ext>
            </a:extLst>
          </p:cNvPr>
          <p:cNvSpPr/>
          <p:nvPr/>
        </p:nvSpPr>
        <p:spPr>
          <a:xfrm>
            <a:off x="685800" y="5853200"/>
            <a:ext cx="3722914" cy="3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Memorise this. It ends the competitive conversation.</a:t>
            </a:r>
            <a:endParaRPr lang="en-US" sz="1200" dirty="0"/>
          </a:p>
        </p:txBody>
      </p:sp>
      <p:sp>
        <p:nvSpPr>
          <p:cNvPr id="9" name="Shape 45">
            <a:extLst>
              <a:ext uri="{FF2B5EF4-FFF2-40B4-BE49-F238E27FC236}">
                <a16:creationId xmlns:a16="http://schemas.microsoft.com/office/drawing/2014/main" id="{06D8322E-585C-BEA7-3C28-14F2EE2AB3EC}"/>
              </a:ext>
            </a:extLst>
          </p:cNvPr>
          <p:cNvSpPr/>
          <p:nvPr/>
        </p:nvSpPr>
        <p:spPr>
          <a:xfrm>
            <a:off x="10961913" y="5634342"/>
            <a:ext cx="1025749" cy="676058"/>
          </a:xfrm>
          <a:prstGeom prst="rect">
            <a:avLst/>
          </a:prstGeom>
          <a:solidFill>
            <a:srgbClr val="1F2A44">
              <a:alpha val="7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/>
                </a:solidFill>
              </a:rPr>
              <a:t>*</a:t>
            </a:r>
            <a:r>
              <a:rPr lang="en-US" sz="12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Patent</a:t>
            </a:r>
            <a:endParaRPr lang="en-US" sz="1200" i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2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200" i="1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9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457200" y="1371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WHY CAMUNDA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should your customer pick Camunda over everything else?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365760" y="1261872"/>
            <a:ext cx="6263640" cy="1143000"/>
          </a:xfrm>
          <a:prstGeom prst="rect">
            <a:avLst/>
          </a:prstGeom>
          <a:solidFill>
            <a:srgbClr val="FFFFFF">
              <a:alpha val="9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365760" y="1261872"/>
            <a:ext cx="54864" cy="11430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52" y="1426464"/>
            <a:ext cx="365760" cy="365760"/>
          </a:xfrm>
          <a:prstGeom prst="rect">
            <a:avLst/>
          </a:prstGeom>
          <a:solidFill>
            <a:srgbClr val="C55A11"/>
          </a:solidFill>
          <a:ln>
            <a:noFill/>
          </a:ln>
        </p:spPr>
      </p:pic>
      <p:sp>
        <p:nvSpPr>
          <p:cNvPr id="384" name="Google Shape;384;p9"/>
          <p:cNvSpPr/>
          <p:nvPr/>
        </p:nvSpPr>
        <p:spPr>
          <a:xfrm>
            <a:off x="1005840" y="1371600"/>
            <a:ext cx="5440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n-US" sz="15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Inside and outside governance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1005840" y="1764792"/>
            <a:ext cx="5440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Camunda is the only platform that coordinates agents from the outside AND injects enforceable steps between an agent's decision and its action. US patent pending.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365760" y="2560320"/>
            <a:ext cx="6263640" cy="1143000"/>
          </a:xfrm>
          <a:prstGeom prst="rect">
            <a:avLst/>
          </a:prstGeom>
          <a:solidFill>
            <a:srgbClr val="FFFFFF">
              <a:alpha val="9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365760" y="2560320"/>
            <a:ext cx="54864" cy="11430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352" y="2724912"/>
            <a:ext cx="365760" cy="365760"/>
          </a:xfrm>
          <a:prstGeom prst="rect">
            <a:avLst/>
          </a:prstGeom>
          <a:solidFill>
            <a:srgbClr val="C55A11"/>
          </a:solidFill>
          <a:ln>
            <a:noFill/>
          </a:ln>
        </p:spPr>
      </p:pic>
      <p:sp>
        <p:nvSpPr>
          <p:cNvPr id="389" name="Google Shape;389;p9"/>
          <p:cNvSpPr/>
          <p:nvPr/>
        </p:nvSpPr>
        <p:spPr>
          <a:xfrm>
            <a:off x="1005840" y="2670048"/>
            <a:ext cx="5440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n-US" sz="15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Agent-agnostic. Not </a:t>
            </a:r>
            <a:r>
              <a:rPr lang="en-US" sz="1550" b="1" dirty="0">
                <a:solidFill>
                  <a:schemeClr val="dk1"/>
                </a:solidFill>
              </a:rPr>
              <a:t>trapped into one AI vendor, one cloud, or one tool</a:t>
            </a:r>
            <a:r>
              <a:rPr lang="en-US" sz="15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1005840" y="3063240"/>
            <a:ext cx="5440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Orchestrate</a:t>
            </a:r>
            <a:r>
              <a:rPr lang="en-US" sz="1200">
                <a:solidFill>
                  <a:srgbClr val="78A9FF"/>
                </a:solidFill>
              </a:rPr>
              <a:t> </a:t>
            </a:r>
            <a:r>
              <a:rPr lang="en-US" sz="12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any custom agent </a:t>
            </a:r>
            <a:r>
              <a:rPr lang="en-US" sz="1200">
                <a:solidFill>
                  <a:srgbClr val="78A9FF"/>
                </a:solidFill>
              </a:rPr>
              <a:t>and s</a:t>
            </a:r>
            <a:r>
              <a:rPr lang="en-US" sz="12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wap LLMs without rebuilding your process.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365760" y="3858768"/>
            <a:ext cx="6263640" cy="1143000"/>
          </a:xfrm>
          <a:prstGeom prst="rect">
            <a:avLst/>
          </a:prstGeom>
          <a:solidFill>
            <a:srgbClr val="FFFFFF">
              <a:alpha val="9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365760" y="3858768"/>
            <a:ext cx="54864" cy="11430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352" y="4023360"/>
            <a:ext cx="365760" cy="365760"/>
          </a:xfrm>
          <a:prstGeom prst="rect">
            <a:avLst/>
          </a:prstGeom>
          <a:solidFill>
            <a:srgbClr val="C55A11"/>
          </a:solidFill>
          <a:ln>
            <a:noFill/>
          </a:ln>
        </p:spPr>
      </p:pic>
      <p:sp>
        <p:nvSpPr>
          <p:cNvPr id="394" name="Google Shape;394;p9"/>
          <p:cNvSpPr/>
          <p:nvPr/>
        </p:nvSpPr>
        <p:spPr>
          <a:xfrm>
            <a:off x="1005840" y="3968496"/>
            <a:ext cx="5440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n-US" sz="15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for scale. Battle-hardened.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1005840" y="4361688"/>
            <a:ext cx="5440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100"/>
              <a:buFont typeface="Arial"/>
              <a:buNone/>
            </a:pPr>
            <a:r>
              <a:rPr lang="en-US" sz="1200" dirty="0" err="1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Zeebe</a:t>
            </a:r>
            <a:r>
              <a:rPr lang="en-US" sz="1200" dirty="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 - the engine that runs Camunda processes - </a:t>
            </a:r>
            <a:r>
              <a:rPr lang="en-US" sz="1200" dirty="0">
                <a:solidFill>
                  <a:srgbClr val="78A9FF"/>
                </a:solidFill>
              </a:rPr>
              <a:t>handles </a:t>
            </a:r>
            <a:r>
              <a:rPr lang="en-US" sz="1200" dirty="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millions of concurrent workflows at low latency. Proven at Goldman Sachs, Barclays, NatWest, and 700+ enterprises.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365760" y="5157216"/>
            <a:ext cx="6263640" cy="1143000"/>
          </a:xfrm>
          <a:prstGeom prst="rect">
            <a:avLst/>
          </a:prstGeom>
          <a:solidFill>
            <a:srgbClr val="FFFFFF">
              <a:alpha val="9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365760" y="5157216"/>
            <a:ext cx="54864" cy="11430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0352" y="5321808"/>
            <a:ext cx="365760" cy="365760"/>
          </a:xfrm>
          <a:prstGeom prst="rect">
            <a:avLst/>
          </a:prstGeom>
          <a:solidFill>
            <a:srgbClr val="C55A11"/>
          </a:solidFill>
          <a:ln>
            <a:noFill/>
          </a:ln>
        </p:spPr>
      </p:pic>
      <p:sp>
        <p:nvSpPr>
          <p:cNvPr id="399" name="Google Shape;399;p9"/>
          <p:cNvSpPr/>
          <p:nvPr/>
        </p:nvSpPr>
        <p:spPr>
          <a:xfrm>
            <a:off x="1005840" y="5266944"/>
            <a:ext cx="5440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n-US" sz="15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Built-in observability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1005840" y="5660136"/>
            <a:ext cx="5440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Every agent action, decision, and exception is captured automatically. Full audit trail — ready for regulators. AI Act compliance built in.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6903720" y="1261872"/>
            <a:ext cx="4937760" cy="2331720"/>
          </a:xfrm>
          <a:prstGeom prst="rect">
            <a:avLst/>
          </a:prstGeom>
          <a:solidFill>
            <a:srgbClr val="FFFFFF">
              <a:alpha val="94901"/>
            </a:srgbClr>
          </a:solidFill>
          <a:ln w="12700" cap="flat" cmpd="sng">
            <a:solidFill>
              <a:srgbClr val="FC5D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7086600" y="1371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15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ANALYST RECOGNITION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86600" y="1783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9"/>
          <p:cNvSpPr/>
          <p:nvPr/>
        </p:nvSpPr>
        <p:spPr>
          <a:xfrm>
            <a:off x="7452360" y="1737360"/>
            <a:ext cx="420624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lang="en-US"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Gartner BOAT Visionary 2025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7452360" y="202996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000"/>
              <a:buFont typeface="Arial"/>
              <a:buNone/>
            </a:pPr>
            <a:r>
              <a:rPr lang="en-US" sz="11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Strongest capability: Orchestration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86600" y="23774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9"/>
          <p:cNvSpPr/>
          <p:nvPr/>
        </p:nvSpPr>
        <p:spPr>
          <a:xfrm>
            <a:off x="7452360" y="2331720"/>
            <a:ext cx="420624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lang="en-US"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Forrester Strong Performer Q3 2025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7452360" y="262432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000"/>
              <a:buFont typeface="Arial"/>
              <a:buNone/>
            </a:pPr>
            <a:r>
              <a:rPr lang="en-US" sz="11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Rated 5/5 in Orchestration &amp; Process Standards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86600" y="2971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9"/>
          <p:cNvSpPr/>
          <p:nvPr/>
        </p:nvSpPr>
        <p:spPr>
          <a:xfrm>
            <a:off x="7452360" y="2926080"/>
            <a:ext cx="420624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lang="en-US"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Forrester APO Landscape Q2 2026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7452360" y="321868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000"/>
              <a:buFont typeface="Arial"/>
              <a:buNone/>
            </a:pPr>
            <a:r>
              <a:rPr lang="en-US" sz="11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'Unique approach to agentic orchestration'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6903720" y="3749040"/>
            <a:ext cx="4937760" cy="260604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7086600" y="3840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15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FULL AUTOMATION SPECTRUM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7086600" y="41605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Unlike competitors who do only one thing, Camunda covers the full range: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7040880" y="4663440"/>
            <a:ext cx="1417320" cy="15087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7040880" y="4709160"/>
            <a:ext cx="14173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Rules-based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8458200" y="5120640"/>
            <a:ext cx="1554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8613648" y="4663440"/>
            <a:ext cx="1417320" cy="1508760"/>
          </a:xfrm>
          <a:prstGeom prst="rect">
            <a:avLst/>
          </a:prstGeom>
          <a:solidFill>
            <a:srgbClr val="6967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8613648" y="4709160"/>
            <a:ext cx="1417200" cy="1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AI-assisted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10030968" y="5120640"/>
            <a:ext cx="1554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10186416" y="4663440"/>
            <a:ext cx="1417320" cy="150876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10186416" y="4709160"/>
            <a:ext cx="14173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Autonomous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14324" y="114300"/>
            <a:ext cx="2369064" cy="3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Shape 11">
          <a:extLst>
            <a:ext uri="{FF2B5EF4-FFF2-40B4-BE49-F238E27FC236}">
              <a16:creationId xmlns:a16="http://schemas.microsoft.com/office/drawing/2014/main" id="{90C8A87A-D53A-DE65-251F-DF7AD8D76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range_bar">
            <a:extLst>
              <a:ext uri="{FF2B5EF4-FFF2-40B4-BE49-F238E27FC236}">
                <a16:creationId xmlns:a16="http://schemas.microsoft.com/office/drawing/2014/main" id="{F6FC385E-8054-2EF4-0BD4-D759E67D541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9" name="logo" descr="preencoded.png">
            <a:extLst>
              <a:ext uri="{FF2B5EF4-FFF2-40B4-BE49-F238E27FC236}">
                <a16:creationId xmlns:a16="http://schemas.microsoft.com/office/drawing/2014/main" id="{908F202A-86E9-356B-B92F-6082321FDB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26875" y="382410"/>
            <a:ext cx="256032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sec">
            <a:extLst>
              <a:ext uri="{FF2B5EF4-FFF2-40B4-BE49-F238E27FC236}">
                <a16:creationId xmlns:a16="http://schemas.microsoft.com/office/drawing/2014/main" id="{A0C551B3-7E92-ED51-3AC8-D03E2031262F}"/>
              </a:ext>
            </a:extLst>
          </p:cNvPr>
          <p:cNvSpPr/>
          <p:nvPr/>
        </p:nvSpPr>
        <p:spPr>
          <a:xfrm>
            <a:off x="457200" y="457200"/>
            <a:ext cx="30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WHY CAMUNDA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43907406-CD84-CA59-6526-183459A205A0}"/>
              </a:ext>
            </a:extLst>
          </p:cNvPr>
          <p:cNvSpPr/>
          <p:nvPr/>
        </p:nvSpPr>
        <p:spPr>
          <a:xfrm>
            <a:off x="457200" y="640080"/>
            <a:ext cx="10000000" cy="6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</a:rPr>
              <a:t>More</a:t>
            </a:r>
            <a:r>
              <a:rPr lang="en-US" sz="28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reasons Camunda wins — and how to defend it.</a:t>
            </a:r>
          </a:p>
        </p:txBody>
      </p:sp>
      <p:sp>
        <p:nvSpPr>
          <p:cNvPr id="33" name="div_30">
            <a:extLst>
              <a:ext uri="{FF2B5EF4-FFF2-40B4-BE49-F238E27FC236}">
                <a16:creationId xmlns:a16="http://schemas.microsoft.com/office/drawing/2014/main" id="{7E75668F-0DEC-7AC0-E553-AA6DC740EAE7}"/>
              </a:ext>
            </a:extLst>
          </p:cNvPr>
          <p:cNvSpPr/>
          <p:nvPr/>
        </p:nvSpPr>
        <p:spPr>
          <a:xfrm>
            <a:off x="957200" y="1450000"/>
            <a:ext cx="10500000" cy="1800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num_30">
            <a:extLst>
              <a:ext uri="{FF2B5EF4-FFF2-40B4-BE49-F238E27FC236}">
                <a16:creationId xmlns:a16="http://schemas.microsoft.com/office/drawing/2014/main" id="{0C4BB0CC-F1BB-A4AF-27BD-6522AA01B0EB}"/>
              </a:ext>
            </a:extLst>
          </p:cNvPr>
          <p:cNvSpPr/>
          <p:nvPr/>
        </p:nvSpPr>
        <p:spPr>
          <a:xfrm>
            <a:off x="457200" y="1480000"/>
            <a:ext cx="457200" cy="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1" name="hdr_30">
            <a:extLst>
              <a:ext uri="{FF2B5EF4-FFF2-40B4-BE49-F238E27FC236}">
                <a16:creationId xmlns:a16="http://schemas.microsoft.com/office/drawing/2014/main" id="{B2AA2CE2-FCFB-2D0E-2689-46726320D4D2}"/>
              </a:ext>
            </a:extLst>
          </p:cNvPr>
          <p:cNvSpPr/>
          <p:nvPr/>
        </p:nvSpPr>
        <p:spPr>
          <a:xfrm>
            <a:off x="957200" y="1480000"/>
            <a:ext cx="105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orchestrate the FULL journey — not just one step.</a:t>
            </a:r>
          </a:p>
        </p:txBody>
      </p:sp>
      <p:sp>
        <p:nvSpPr>
          <p:cNvPr id="32" name="det_30">
            <a:extLst>
              <a:ext uri="{FF2B5EF4-FFF2-40B4-BE49-F238E27FC236}">
                <a16:creationId xmlns:a16="http://schemas.microsoft.com/office/drawing/2014/main" id="{0957BDCE-7382-1082-E04C-0F59F94E94A6}"/>
              </a:ext>
            </a:extLst>
          </p:cNvPr>
          <p:cNvSpPr/>
          <p:nvPr/>
        </p:nvSpPr>
        <p:spPr>
          <a:xfrm>
            <a:off x="957200" y="1960000"/>
            <a:ext cx="105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RPA automates tasks. iPaaS moves data. Camunda owns the entire end-to-end process — from trigger to outcome — across every system, every team, every AI agent.</a:t>
            </a:r>
          </a:p>
        </p:txBody>
      </p:sp>
      <p:sp>
        <p:nvSpPr>
          <p:cNvPr id="43" name="div_40">
            <a:extLst>
              <a:ext uri="{FF2B5EF4-FFF2-40B4-BE49-F238E27FC236}">
                <a16:creationId xmlns:a16="http://schemas.microsoft.com/office/drawing/2014/main" id="{AA5213E2-4774-AFFF-CC76-01CEFFE133EA}"/>
              </a:ext>
            </a:extLst>
          </p:cNvPr>
          <p:cNvSpPr/>
          <p:nvPr/>
        </p:nvSpPr>
        <p:spPr>
          <a:xfrm>
            <a:off x="957200" y="2420000"/>
            <a:ext cx="10500000" cy="1800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num_40">
            <a:extLst>
              <a:ext uri="{FF2B5EF4-FFF2-40B4-BE49-F238E27FC236}">
                <a16:creationId xmlns:a16="http://schemas.microsoft.com/office/drawing/2014/main" id="{C926DB90-263D-C35A-E6DF-D2B36D30F7C9}"/>
              </a:ext>
            </a:extLst>
          </p:cNvPr>
          <p:cNvSpPr/>
          <p:nvPr/>
        </p:nvSpPr>
        <p:spPr>
          <a:xfrm>
            <a:off x="457200" y="2450000"/>
            <a:ext cx="457200" cy="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41" name="hdr_40">
            <a:extLst>
              <a:ext uri="{FF2B5EF4-FFF2-40B4-BE49-F238E27FC236}">
                <a16:creationId xmlns:a16="http://schemas.microsoft.com/office/drawing/2014/main" id="{A7B0EF3B-C032-2B7F-071D-2D07E1BDF47C}"/>
              </a:ext>
            </a:extLst>
          </p:cNvPr>
          <p:cNvSpPr/>
          <p:nvPr/>
        </p:nvSpPr>
        <p:spPr>
          <a:xfrm>
            <a:off x="957200" y="2450000"/>
            <a:ext cx="105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clients can use ANY AI. No forced migrations. No vendor dependency</a:t>
            </a:r>
          </a:p>
        </p:txBody>
      </p:sp>
      <p:sp>
        <p:nvSpPr>
          <p:cNvPr id="42" name="det_40">
            <a:extLst>
              <a:ext uri="{FF2B5EF4-FFF2-40B4-BE49-F238E27FC236}">
                <a16:creationId xmlns:a16="http://schemas.microsoft.com/office/drawing/2014/main" id="{54C1C8A5-EBCB-3A4C-76B8-265907B602D6}"/>
              </a:ext>
            </a:extLst>
          </p:cNvPr>
          <p:cNvSpPr/>
          <p:nvPr/>
        </p:nvSpPr>
        <p:spPr>
          <a:xfrm>
            <a:off x="957200" y="2930000"/>
            <a:ext cx="105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Camunda works with Azure OpenAI, AWS Bedrock, Google Gemini, LangChain — whatever your client already bought. They are not forced to pick one AI vendor.</a:t>
            </a:r>
          </a:p>
        </p:txBody>
      </p:sp>
      <p:sp>
        <p:nvSpPr>
          <p:cNvPr id="53" name="div_50">
            <a:extLst>
              <a:ext uri="{FF2B5EF4-FFF2-40B4-BE49-F238E27FC236}">
                <a16:creationId xmlns:a16="http://schemas.microsoft.com/office/drawing/2014/main" id="{5FB405E5-5055-8D89-B46E-D8AD5BCFFF44}"/>
              </a:ext>
            </a:extLst>
          </p:cNvPr>
          <p:cNvSpPr/>
          <p:nvPr/>
        </p:nvSpPr>
        <p:spPr>
          <a:xfrm>
            <a:off x="957200" y="3390000"/>
            <a:ext cx="10500000" cy="1800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num_50">
            <a:extLst>
              <a:ext uri="{FF2B5EF4-FFF2-40B4-BE49-F238E27FC236}">
                <a16:creationId xmlns:a16="http://schemas.microsoft.com/office/drawing/2014/main" id="{D37F9DDB-4203-077D-4CDA-6ECF677E4645}"/>
              </a:ext>
            </a:extLst>
          </p:cNvPr>
          <p:cNvSpPr/>
          <p:nvPr/>
        </p:nvSpPr>
        <p:spPr>
          <a:xfrm>
            <a:off x="457200" y="3420000"/>
            <a:ext cx="457200" cy="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51" name="hdr_50">
            <a:extLst>
              <a:ext uri="{FF2B5EF4-FFF2-40B4-BE49-F238E27FC236}">
                <a16:creationId xmlns:a16="http://schemas.microsoft.com/office/drawing/2014/main" id="{54C71125-BE95-E983-0AB2-93FF9F366D5E}"/>
              </a:ext>
            </a:extLst>
          </p:cNvPr>
          <p:cNvSpPr/>
          <p:nvPr/>
        </p:nvSpPr>
        <p:spPr>
          <a:xfrm>
            <a:off x="957200" y="3420000"/>
            <a:ext cx="105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decision is traceable. Built for regulated industries.</a:t>
            </a:r>
          </a:p>
        </p:txBody>
      </p:sp>
      <p:sp>
        <p:nvSpPr>
          <p:cNvPr id="52" name="det_50">
            <a:extLst>
              <a:ext uri="{FF2B5EF4-FFF2-40B4-BE49-F238E27FC236}">
                <a16:creationId xmlns:a16="http://schemas.microsoft.com/office/drawing/2014/main" id="{4BA62A68-6E19-69C7-CA7C-BD5D64A7C3AB}"/>
              </a:ext>
            </a:extLst>
          </p:cNvPr>
          <p:cNvSpPr/>
          <p:nvPr/>
        </p:nvSpPr>
        <p:spPr>
          <a:xfrm>
            <a:off x="957200" y="3900000"/>
            <a:ext cx="1074712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A complete audit trail is automatically captured for every action, every AI decision, every human approval. Banks, insurers, healthcare — compliance is built in, not bolted on.</a:t>
            </a:r>
          </a:p>
        </p:txBody>
      </p:sp>
      <p:sp>
        <p:nvSpPr>
          <p:cNvPr id="63" name="div_60">
            <a:extLst>
              <a:ext uri="{FF2B5EF4-FFF2-40B4-BE49-F238E27FC236}">
                <a16:creationId xmlns:a16="http://schemas.microsoft.com/office/drawing/2014/main" id="{58099F4B-63D0-7302-FCD2-DCFDC242DFEA}"/>
              </a:ext>
            </a:extLst>
          </p:cNvPr>
          <p:cNvSpPr/>
          <p:nvPr/>
        </p:nvSpPr>
        <p:spPr>
          <a:xfrm>
            <a:off x="957200" y="4360000"/>
            <a:ext cx="10500000" cy="1800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num_60">
            <a:extLst>
              <a:ext uri="{FF2B5EF4-FFF2-40B4-BE49-F238E27FC236}">
                <a16:creationId xmlns:a16="http://schemas.microsoft.com/office/drawing/2014/main" id="{94E394BD-7195-EF51-3BE9-82F5821ACC35}"/>
              </a:ext>
            </a:extLst>
          </p:cNvPr>
          <p:cNvSpPr/>
          <p:nvPr/>
        </p:nvSpPr>
        <p:spPr>
          <a:xfrm>
            <a:off x="457200" y="4390000"/>
            <a:ext cx="457200" cy="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61" name="hdr_60">
            <a:extLst>
              <a:ext uri="{FF2B5EF4-FFF2-40B4-BE49-F238E27FC236}">
                <a16:creationId xmlns:a16="http://schemas.microsoft.com/office/drawing/2014/main" id="{40F2BCAB-FE0E-B61E-978F-AFDCD6DE34FA}"/>
              </a:ext>
            </a:extLst>
          </p:cNvPr>
          <p:cNvSpPr/>
          <p:nvPr/>
        </p:nvSpPr>
        <p:spPr>
          <a:xfrm>
            <a:off x="957200" y="4390000"/>
            <a:ext cx="105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handles massive scale without breaking.</a:t>
            </a:r>
          </a:p>
        </p:txBody>
      </p:sp>
      <p:sp>
        <p:nvSpPr>
          <p:cNvPr id="62" name="det_60">
            <a:extLst>
              <a:ext uri="{FF2B5EF4-FFF2-40B4-BE49-F238E27FC236}">
                <a16:creationId xmlns:a16="http://schemas.microsoft.com/office/drawing/2014/main" id="{8C46C27B-30B4-5C38-46D5-B75F6ED59FC4}"/>
              </a:ext>
            </a:extLst>
          </p:cNvPr>
          <p:cNvSpPr/>
          <p:nvPr/>
        </p:nvSpPr>
        <p:spPr>
          <a:xfrm>
            <a:off x="957200" y="4870000"/>
            <a:ext cx="10856848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Proven at Goldman Sachs, Barclays, and 700+ enterprises. Millions of concurrent workflows. Zero downtime. SLA guarantees. Legacy BPM tools simply cannot match this.</a:t>
            </a:r>
          </a:p>
        </p:txBody>
      </p:sp>
      <p:sp>
        <p:nvSpPr>
          <p:cNvPr id="73" name="div_70">
            <a:extLst>
              <a:ext uri="{FF2B5EF4-FFF2-40B4-BE49-F238E27FC236}">
                <a16:creationId xmlns:a16="http://schemas.microsoft.com/office/drawing/2014/main" id="{E4A7B7BA-FC32-367F-EC24-ECBCC34B1DF2}"/>
              </a:ext>
            </a:extLst>
          </p:cNvPr>
          <p:cNvSpPr/>
          <p:nvPr/>
        </p:nvSpPr>
        <p:spPr>
          <a:xfrm>
            <a:off x="957200" y="5330000"/>
            <a:ext cx="10500000" cy="1800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num_70">
            <a:extLst>
              <a:ext uri="{FF2B5EF4-FFF2-40B4-BE49-F238E27FC236}">
                <a16:creationId xmlns:a16="http://schemas.microsoft.com/office/drawing/2014/main" id="{846BE33B-A983-0F9A-31E6-6463D33F9ADE}"/>
              </a:ext>
            </a:extLst>
          </p:cNvPr>
          <p:cNvSpPr/>
          <p:nvPr/>
        </p:nvSpPr>
        <p:spPr>
          <a:xfrm>
            <a:off x="457200" y="5360000"/>
            <a:ext cx="457200" cy="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71" name="hdr_70">
            <a:extLst>
              <a:ext uri="{FF2B5EF4-FFF2-40B4-BE49-F238E27FC236}">
                <a16:creationId xmlns:a16="http://schemas.microsoft.com/office/drawing/2014/main" id="{10DC8ADB-E20B-D0D0-9A0F-D4AE80C174CF}"/>
              </a:ext>
            </a:extLst>
          </p:cNvPr>
          <p:cNvSpPr/>
          <p:nvPr/>
        </p:nvSpPr>
        <p:spPr>
          <a:xfrm>
            <a:off x="957200" y="5360000"/>
            <a:ext cx="105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doesn't replace what clients have. It makes it smarter.</a:t>
            </a:r>
          </a:p>
        </p:txBody>
      </p:sp>
      <p:sp>
        <p:nvSpPr>
          <p:cNvPr id="72" name="det_70">
            <a:extLst>
              <a:ext uri="{FF2B5EF4-FFF2-40B4-BE49-F238E27FC236}">
                <a16:creationId xmlns:a16="http://schemas.microsoft.com/office/drawing/2014/main" id="{E78EFB9C-3A71-4A7D-2D9E-CC3C95DECAFD}"/>
              </a:ext>
            </a:extLst>
          </p:cNvPr>
          <p:cNvSpPr/>
          <p:nvPr/>
        </p:nvSpPr>
        <p:spPr>
          <a:xfrm>
            <a:off x="957200" y="5840000"/>
            <a:ext cx="105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Camunda sits above your client's existing RPA, CRM, ERP, and cloud tools — coordinating them all. It's the coordination layer they're missing.</a:t>
            </a:r>
          </a:p>
        </p:txBody>
      </p:sp>
      <p:sp>
        <p:nvSpPr>
          <p:cNvPr id="80" name="footer_80">
            <a:extLst>
              <a:ext uri="{FF2B5EF4-FFF2-40B4-BE49-F238E27FC236}">
                <a16:creationId xmlns:a16="http://schemas.microsoft.com/office/drawing/2014/main" id="{73C56EA0-D6BC-5AA5-FED4-81F4059CFB1B}"/>
              </a:ext>
            </a:extLst>
          </p:cNvPr>
          <p:cNvSpPr/>
          <p:nvPr/>
        </p:nvSpPr>
        <p:spPr>
          <a:xfrm>
            <a:off x="457200" y="640080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camunda.com  |  partners.camunda.com  |  CONFIDENTIAL — PARTNER USE ONLY</a:t>
            </a:r>
          </a:p>
        </p:txBody>
      </p:sp>
    </p:spTree>
    <p:extLst>
      <p:ext uri="{BB962C8B-B14F-4D97-AF65-F5344CB8AC3E}">
        <p14:creationId xmlns:p14="http://schemas.microsoft.com/office/powerpoint/2010/main" val="2844316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range_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9" name="logo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26875" y="382410"/>
            <a:ext cx="256032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sec"/>
          <p:cNvSpPr/>
          <p:nvPr/>
        </p:nvSpPr>
        <p:spPr>
          <a:xfrm>
            <a:off x="457200" y="457200"/>
            <a:ext cx="30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HOW TO SPOT AN OPPORTUNITY</a:t>
            </a:r>
          </a:p>
        </p:txBody>
      </p:sp>
      <p:sp>
        <p:nvSpPr>
          <p:cNvPr id="21" name="title"/>
          <p:cNvSpPr/>
          <p:nvPr/>
        </p:nvSpPr>
        <p:spPr>
          <a:xfrm>
            <a:off x="457200" y="640080"/>
            <a:ext cx="10500000" cy="6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you hear these words — it's a Camunda conversation.</a:t>
            </a:r>
          </a:p>
        </p:txBody>
      </p:sp>
      <p:sp>
        <p:nvSpPr>
          <p:cNvPr id="22" name="sub"/>
          <p:cNvSpPr/>
          <p:nvPr/>
        </p:nvSpPr>
        <p:spPr>
          <a:xfrm>
            <a:off x="457200" y="128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Listen for these trigger phrases in client meetings. Any one of them signals a real opportunity.</a:t>
            </a:r>
          </a:p>
        </p:txBody>
      </p:sp>
      <p:sp>
        <p:nvSpPr>
          <p:cNvPr id="30" name="pill_30"/>
          <p:cNvSpPr/>
          <p:nvPr/>
        </p:nvSpPr>
        <p:spPr>
          <a:xfrm>
            <a:off x="457200" y="1830000"/>
            <a:ext cx="3530000" cy="950000"/>
          </a:xfrm>
          <a:prstGeom prst="roundRect">
            <a:avLst>
              <a:gd name="adj" fmla="val 20000"/>
            </a:avLst>
          </a:prstGeom>
          <a:solidFill>
            <a:srgbClr val="FC5D0D">
              <a:alpha val="25098"/>
            </a:srgbClr>
          </a:solidFill>
          <a:ln w="9525">
            <a:solidFill>
              <a:srgbClr val="FC5D0D">
                <a:alpha val="40000"/>
              </a:srgb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31" name="kw_30"/>
          <p:cNvSpPr/>
          <p:nvPr/>
        </p:nvSpPr>
        <p:spPr>
          <a:xfrm>
            <a:off x="548625" y="1921425"/>
            <a:ext cx="3347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"Our process breaks at handoffs"</a:t>
            </a:r>
          </a:p>
        </p:txBody>
      </p:sp>
      <p:sp>
        <p:nvSpPr>
          <p:cNvPr id="32" name="sub_30"/>
          <p:cNvSpPr/>
          <p:nvPr/>
        </p:nvSpPr>
        <p:spPr>
          <a:xfrm>
            <a:off x="548625" y="2417839"/>
            <a:ext cx="334715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Cross-system coordination </a:t>
            </a:r>
            <a:r>
              <a:rPr lang="en-US" sz="9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failure</a:t>
            </a:r>
          </a:p>
        </p:txBody>
      </p:sp>
      <p:sp>
        <p:nvSpPr>
          <p:cNvPr id="40" name="pill_40"/>
          <p:cNvSpPr/>
          <p:nvPr/>
        </p:nvSpPr>
        <p:spPr>
          <a:xfrm>
            <a:off x="4200000" y="1830000"/>
            <a:ext cx="3530000" cy="950000"/>
          </a:xfrm>
          <a:prstGeom prst="roundRect">
            <a:avLst>
              <a:gd name="adj" fmla="val 20000"/>
            </a:avLst>
          </a:prstGeom>
          <a:solidFill>
            <a:srgbClr val="FC5D0D">
              <a:alpha val="25098"/>
            </a:srgbClr>
          </a:solidFill>
          <a:ln w="9525">
            <a:solidFill>
              <a:srgbClr val="FC5D0D">
                <a:alpha val="40000"/>
              </a:srgb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41" name="kw_40"/>
          <p:cNvSpPr/>
          <p:nvPr/>
        </p:nvSpPr>
        <p:spPr>
          <a:xfrm>
            <a:off x="4291425" y="1921425"/>
            <a:ext cx="3347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"We can't audit what happened"</a:t>
            </a:r>
          </a:p>
        </p:txBody>
      </p:sp>
      <p:sp>
        <p:nvSpPr>
          <p:cNvPr id="42" name="sub_40"/>
          <p:cNvSpPr/>
          <p:nvPr/>
        </p:nvSpPr>
        <p:spPr>
          <a:xfrm>
            <a:off x="4291425" y="2430120"/>
            <a:ext cx="334715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Compliance &amp; traceability </a:t>
            </a:r>
            <a:r>
              <a:rPr lang="en-US" sz="9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gaps</a:t>
            </a:r>
          </a:p>
        </p:txBody>
      </p:sp>
      <p:sp>
        <p:nvSpPr>
          <p:cNvPr id="50" name="pill_50"/>
          <p:cNvSpPr/>
          <p:nvPr/>
        </p:nvSpPr>
        <p:spPr>
          <a:xfrm>
            <a:off x="7943000" y="1830000"/>
            <a:ext cx="3530000" cy="950000"/>
          </a:xfrm>
          <a:prstGeom prst="roundRect">
            <a:avLst>
              <a:gd name="adj" fmla="val 20000"/>
            </a:avLst>
          </a:prstGeom>
          <a:solidFill>
            <a:srgbClr val="FC5D0D">
              <a:alpha val="25098"/>
            </a:srgbClr>
          </a:solidFill>
          <a:ln w="9525">
            <a:solidFill>
              <a:srgbClr val="FC5D0D">
                <a:alpha val="40000"/>
              </a:srgb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51" name="kw_50"/>
          <p:cNvSpPr/>
          <p:nvPr/>
        </p:nvSpPr>
        <p:spPr>
          <a:xfrm>
            <a:off x="8034425" y="1921425"/>
            <a:ext cx="3347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"Our RPA keeps failing us"</a:t>
            </a:r>
          </a:p>
        </p:txBody>
      </p:sp>
      <p:sp>
        <p:nvSpPr>
          <p:cNvPr id="52" name="sub_50"/>
          <p:cNvSpPr/>
          <p:nvPr/>
        </p:nvSpPr>
        <p:spPr>
          <a:xfrm>
            <a:off x="8034425" y="2425678"/>
            <a:ext cx="334715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Automation </a:t>
            </a:r>
            <a:r>
              <a:rPr lang="en-US" sz="9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hitting its ceiling</a:t>
            </a:r>
          </a:p>
        </p:txBody>
      </p:sp>
      <p:sp>
        <p:nvSpPr>
          <p:cNvPr id="60" name="pill_60"/>
          <p:cNvSpPr/>
          <p:nvPr/>
        </p:nvSpPr>
        <p:spPr>
          <a:xfrm>
            <a:off x="457200" y="2900000"/>
            <a:ext cx="3530000" cy="950000"/>
          </a:xfrm>
          <a:prstGeom prst="roundRect">
            <a:avLst>
              <a:gd name="adj" fmla="val 20000"/>
            </a:avLst>
          </a:prstGeom>
          <a:solidFill>
            <a:srgbClr val="9B7FFF">
              <a:alpha val="25098"/>
            </a:srgbClr>
          </a:solidFill>
          <a:ln w="9525">
            <a:solidFill>
              <a:srgbClr val="9B7FFF">
                <a:alpha val="40000"/>
              </a:srgb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61" name="kw_60"/>
          <p:cNvSpPr/>
          <p:nvPr/>
        </p:nvSpPr>
        <p:spPr>
          <a:xfrm>
            <a:off x="548625" y="2991425"/>
            <a:ext cx="3347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"AI pilots never make it to production"</a:t>
            </a:r>
          </a:p>
        </p:txBody>
      </p:sp>
      <p:sp>
        <p:nvSpPr>
          <p:cNvPr id="62" name="sub_60"/>
          <p:cNvSpPr/>
          <p:nvPr/>
        </p:nvSpPr>
        <p:spPr>
          <a:xfrm>
            <a:off x="548625" y="3453361"/>
            <a:ext cx="334715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Agents without </a:t>
            </a:r>
            <a:r>
              <a:rPr lang="en-US" sz="900" b="1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governance</a:t>
            </a:r>
          </a:p>
        </p:txBody>
      </p:sp>
      <p:sp>
        <p:nvSpPr>
          <p:cNvPr id="70" name="pill_70"/>
          <p:cNvSpPr/>
          <p:nvPr/>
        </p:nvSpPr>
        <p:spPr>
          <a:xfrm>
            <a:off x="4200000" y="2900000"/>
            <a:ext cx="3530000" cy="950000"/>
          </a:xfrm>
          <a:prstGeom prst="roundRect">
            <a:avLst>
              <a:gd name="adj" fmla="val 20000"/>
            </a:avLst>
          </a:prstGeom>
          <a:solidFill>
            <a:srgbClr val="9B7FFF">
              <a:alpha val="25098"/>
            </a:srgbClr>
          </a:solidFill>
          <a:ln w="9525">
            <a:solidFill>
              <a:srgbClr val="9B7FFF">
                <a:alpha val="40000"/>
              </a:srgb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71" name="kw_70"/>
          <p:cNvSpPr/>
          <p:nvPr/>
        </p:nvSpPr>
        <p:spPr>
          <a:xfrm>
            <a:off x="4291425" y="2991425"/>
            <a:ext cx="3347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"Too many systems, no one view"</a:t>
            </a:r>
          </a:p>
        </p:txBody>
      </p:sp>
      <p:sp>
        <p:nvSpPr>
          <p:cNvPr id="72" name="sub_70"/>
          <p:cNvSpPr/>
          <p:nvPr/>
        </p:nvSpPr>
        <p:spPr>
          <a:xfrm>
            <a:off x="4347618" y="3510687"/>
            <a:ext cx="334715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Fragmented</a:t>
            </a:r>
            <a:r>
              <a:rPr lang="en-US" sz="9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 legacy landscape</a:t>
            </a:r>
          </a:p>
        </p:txBody>
      </p:sp>
      <p:sp>
        <p:nvSpPr>
          <p:cNvPr id="80" name="pill_80"/>
          <p:cNvSpPr/>
          <p:nvPr/>
        </p:nvSpPr>
        <p:spPr>
          <a:xfrm>
            <a:off x="7943000" y="2900000"/>
            <a:ext cx="3530000" cy="950000"/>
          </a:xfrm>
          <a:prstGeom prst="roundRect">
            <a:avLst>
              <a:gd name="adj" fmla="val 20000"/>
            </a:avLst>
          </a:prstGeom>
          <a:solidFill>
            <a:srgbClr val="9B7FFF">
              <a:alpha val="25098"/>
            </a:srgbClr>
          </a:solidFill>
          <a:ln w="9525">
            <a:solidFill>
              <a:srgbClr val="9B7FFF">
                <a:alpha val="40000"/>
              </a:srgb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81" name="kw_80"/>
          <p:cNvSpPr/>
          <p:nvPr/>
        </p:nvSpPr>
        <p:spPr>
          <a:xfrm>
            <a:off x="8034425" y="2991425"/>
            <a:ext cx="3347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"Manual reviews are our bottleneck"</a:t>
            </a:r>
          </a:p>
        </p:txBody>
      </p:sp>
      <p:sp>
        <p:nvSpPr>
          <p:cNvPr id="82" name="sub_80"/>
          <p:cNvSpPr/>
          <p:nvPr/>
        </p:nvSpPr>
        <p:spPr>
          <a:xfrm>
            <a:off x="8034425" y="3511287"/>
            <a:ext cx="334715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Human work </a:t>
            </a:r>
            <a:r>
              <a:rPr lang="en-US" sz="9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delaying SLAs</a:t>
            </a:r>
          </a:p>
        </p:txBody>
      </p:sp>
      <p:sp>
        <p:nvSpPr>
          <p:cNvPr id="90" name="pill_90"/>
          <p:cNvSpPr/>
          <p:nvPr/>
        </p:nvSpPr>
        <p:spPr>
          <a:xfrm>
            <a:off x="457200" y="3970000"/>
            <a:ext cx="3530000" cy="950000"/>
          </a:xfrm>
          <a:prstGeom prst="roundRect">
            <a:avLst>
              <a:gd name="adj" fmla="val 20000"/>
            </a:avLst>
          </a:prstGeom>
          <a:solidFill>
            <a:srgbClr val="2EAA6A">
              <a:alpha val="25098"/>
            </a:srgbClr>
          </a:solidFill>
          <a:ln w="9525">
            <a:solidFill>
              <a:srgbClr val="2EAA6A">
                <a:alpha val="40000"/>
              </a:srgb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91" name="kw_90"/>
          <p:cNvSpPr/>
          <p:nvPr/>
        </p:nvSpPr>
        <p:spPr>
          <a:xfrm>
            <a:off x="548625" y="4061425"/>
            <a:ext cx="3347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"Compliance is slowing us down"</a:t>
            </a:r>
          </a:p>
        </p:txBody>
      </p:sp>
      <p:sp>
        <p:nvSpPr>
          <p:cNvPr id="92" name="sub_90"/>
          <p:cNvSpPr/>
          <p:nvPr/>
        </p:nvSpPr>
        <p:spPr>
          <a:xfrm>
            <a:off x="548625" y="4552641"/>
            <a:ext cx="334715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Regulated industry </a:t>
            </a:r>
            <a:r>
              <a:rPr lang="en-US" sz="9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audit burden</a:t>
            </a:r>
          </a:p>
        </p:txBody>
      </p:sp>
      <p:sp>
        <p:nvSpPr>
          <p:cNvPr id="100" name="pill_100"/>
          <p:cNvSpPr/>
          <p:nvPr/>
        </p:nvSpPr>
        <p:spPr>
          <a:xfrm>
            <a:off x="4200000" y="3970000"/>
            <a:ext cx="3530000" cy="950000"/>
          </a:xfrm>
          <a:prstGeom prst="roundRect">
            <a:avLst>
              <a:gd name="adj" fmla="val 20000"/>
            </a:avLst>
          </a:prstGeom>
          <a:solidFill>
            <a:srgbClr val="2EAA6A">
              <a:alpha val="25098"/>
            </a:srgbClr>
          </a:solidFill>
          <a:ln w="9525">
            <a:solidFill>
              <a:srgbClr val="2EAA6A">
                <a:alpha val="40000"/>
              </a:srgb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01" name="kw_100"/>
          <p:cNvSpPr/>
          <p:nvPr/>
        </p:nvSpPr>
        <p:spPr>
          <a:xfrm>
            <a:off x="4291425" y="4061425"/>
            <a:ext cx="3347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"We need to scale without headcount"</a:t>
            </a:r>
          </a:p>
        </p:txBody>
      </p:sp>
      <p:sp>
        <p:nvSpPr>
          <p:cNvPr id="102" name="sub_100"/>
          <p:cNvSpPr/>
          <p:nvPr/>
        </p:nvSpPr>
        <p:spPr>
          <a:xfrm>
            <a:off x="4291425" y="4580687"/>
            <a:ext cx="334715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Volume growth </a:t>
            </a:r>
            <a:r>
              <a:rPr lang="en-US" sz="9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with fixed staff</a:t>
            </a:r>
          </a:p>
        </p:txBody>
      </p:sp>
      <p:sp>
        <p:nvSpPr>
          <p:cNvPr id="110" name="pill_110"/>
          <p:cNvSpPr/>
          <p:nvPr/>
        </p:nvSpPr>
        <p:spPr>
          <a:xfrm>
            <a:off x="7943000" y="3970000"/>
            <a:ext cx="3530000" cy="950000"/>
          </a:xfrm>
          <a:prstGeom prst="roundRect">
            <a:avLst>
              <a:gd name="adj" fmla="val 20000"/>
            </a:avLst>
          </a:prstGeom>
          <a:solidFill>
            <a:srgbClr val="2EAA6A">
              <a:alpha val="25098"/>
            </a:srgbClr>
          </a:solidFill>
          <a:ln w="9525">
            <a:solidFill>
              <a:srgbClr val="2EAA6A">
                <a:alpha val="40000"/>
              </a:srgb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11" name="kw_110"/>
          <p:cNvSpPr/>
          <p:nvPr/>
        </p:nvSpPr>
        <p:spPr>
          <a:xfrm>
            <a:off x="8034425" y="4061425"/>
            <a:ext cx="3347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"Our onboarding takes weeks"</a:t>
            </a:r>
          </a:p>
        </p:txBody>
      </p:sp>
      <p:sp>
        <p:nvSpPr>
          <p:cNvPr id="112" name="sub_110"/>
          <p:cNvSpPr/>
          <p:nvPr/>
        </p:nvSpPr>
        <p:spPr>
          <a:xfrm>
            <a:off x="8034425" y="4569425"/>
            <a:ext cx="334715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Slow </a:t>
            </a:r>
            <a:r>
              <a:rPr lang="en-US" sz="900" b="1" dirty="0">
                <a:solidFill>
                  <a:srgbClr val="BBBCBC"/>
                </a:solidFill>
                <a:latin typeface="Arial"/>
                <a:ea typeface="Arial"/>
                <a:cs typeface="Arial"/>
                <a:sym typeface="Arial"/>
              </a:rPr>
              <a:t>customer journeys</a:t>
            </a:r>
          </a:p>
        </p:txBody>
      </p:sp>
      <p:sp>
        <p:nvSpPr>
          <p:cNvPr id="120" name="cta"/>
          <p:cNvSpPr/>
          <p:nvPr/>
        </p:nvSpPr>
        <p:spPr>
          <a:xfrm>
            <a:off x="521193" y="5402697"/>
            <a:ext cx="110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These are your entry points. Any one of these is a Camunda deal.  Ready to qualify?  Contact your Partner Manager.</a:t>
            </a:r>
          </a:p>
        </p:txBody>
      </p:sp>
      <p:sp>
        <p:nvSpPr>
          <p:cNvPr id="130" name="footer_130"/>
          <p:cNvSpPr/>
          <p:nvPr/>
        </p:nvSpPr>
        <p:spPr>
          <a:xfrm>
            <a:off x="457200" y="640080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camunda.com  |  partners.camunda.com  |  CONFIDENTIAL — PARTNER USE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6" cy="6858000"/>
          </a:xfrm>
          <a:prstGeom prst="rect">
            <a:avLst/>
          </a:prstGeom>
          <a:solidFill>
            <a:srgbClr val="FC5D0D"/>
          </a:solidFill>
          <a:ln w="12700">
            <a:solidFill>
              <a:srgbClr val="FC5D0D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3" name="Text 1"/>
          <p:cNvSpPr/>
          <p:nvPr/>
        </p:nvSpPr>
        <p:spPr>
          <a:xfrm>
            <a:off x="304800" y="158496"/>
            <a:ext cx="11582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Partners Should Know</a:t>
            </a:r>
            <a:endParaRPr lang="en-US" sz="2667" dirty="0"/>
          </a:p>
        </p:txBody>
      </p:sp>
      <p:sp>
        <p:nvSpPr>
          <p:cNvPr id="4" name="Text 2"/>
          <p:cNvSpPr/>
          <p:nvPr/>
        </p:nvSpPr>
        <p:spPr>
          <a:xfrm>
            <a:off x="304800" y="609600"/>
            <a:ext cx="11582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7A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client's industry. Lead with the pain. Let the proof point close.</a:t>
            </a:r>
            <a:endParaRPr lang="en-US" sz="1267" dirty="0"/>
          </a:p>
        </p:txBody>
      </p:sp>
      <p:sp>
        <p:nvSpPr>
          <p:cNvPr id="5" name="Shape 3"/>
          <p:cNvSpPr/>
          <p:nvPr/>
        </p:nvSpPr>
        <p:spPr>
          <a:xfrm>
            <a:off x="280416" y="999744"/>
            <a:ext cx="2901696" cy="2218944"/>
          </a:xfrm>
          <a:prstGeom prst="rect">
            <a:avLst/>
          </a:prstGeom>
          <a:solidFill>
            <a:srgbClr val="FFFFFF">
              <a:alpha val="94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6" name="Shape 4"/>
          <p:cNvSpPr/>
          <p:nvPr/>
        </p:nvSpPr>
        <p:spPr>
          <a:xfrm>
            <a:off x="280416" y="999744"/>
            <a:ext cx="2901696" cy="54864"/>
          </a:xfrm>
          <a:prstGeom prst="rect">
            <a:avLst/>
          </a:prstGeom>
          <a:solidFill>
            <a:srgbClr val="FC5D0D"/>
          </a:solidFill>
          <a:ln w="12700">
            <a:solidFill>
              <a:srgbClr val="FC5D0D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7" name="Text 5"/>
          <p:cNvSpPr/>
          <p:nvPr/>
        </p:nvSpPr>
        <p:spPr>
          <a:xfrm>
            <a:off x="402336" y="1085088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spc="240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" y="1365504"/>
            <a:ext cx="2657856" cy="0"/>
          </a:xfrm>
          <a:prstGeom prst="line">
            <a:avLst/>
          </a:prstGeom>
          <a:noFill/>
          <a:ln w="6350">
            <a:solidFill>
              <a:srgbClr val="FC5D0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9" name="Text 7"/>
          <p:cNvSpPr/>
          <p:nvPr/>
        </p:nvSpPr>
        <p:spPr>
          <a:xfrm>
            <a:off x="402336" y="1414272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 / KYC</a:t>
            </a:r>
            <a:endParaRPr lang="en-US" sz="1067" dirty="0"/>
          </a:p>
        </p:txBody>
      </p:sp>
      <p:sp>
        <p:nvSpPr>
          <p:cNvPr id="10" name="Text 8"/>
          <p:cNvSpPr/>
          <p:nvPr/>
        </p:nvSpPr>
        <p:spPr>
          <a:xfrm>
            <a:off x="402336" y="1664208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origination &amp; decisioning</a:t>
            </a:r>
            <a:endParaRPr lang="en-US" sz="1067" dirty="0"/>
          </a:p>
        </p:txBody>
      </p:sp>
      <p:sp>
        <p:nvSpPr>
          <p:cNvPr id="11" name="Text 9"/>
          <p:cNvSpPr/>
          <p:nvPr/>
        </p:nvSpPr>
        <p:spPr>
          <a:xfrm>
            <a:off x="402336" y="1914144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processing</a:t>
            </a:r>
            <a:endParaRPr lang="en-US" sz="1067" dirty="0"/>
          </a:p>
        </p:txBody>
      </p:sp>
      <p:sp>
        <p:nvSpPr>
          <p:cNvPr id="12" name="Text 10"/>
          <p:cNvSpPr/>
          <p:nvPr/>
        </p:nvSpPr>
        <p:spPr>
          <a:xfrm>
            <a:off x="402336" y="2164080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monitoring</a:t>
            </a:r>
            <a:endParaRPr lang="en-US" sz="1067" dirty="0"/>
          </a:p>
        </p:txBody>
      </p:sp>
      <p:sp>
        <p:nvSpPr>
          <p:cNvPr id="13" name="Text 11"/>
          <p:cNvSpPr/>
          <p:nvPr/>
        </p:nvSpPr>
        <p:spPr>
          <a:xfrm>
            <a:off x="402336" y="241401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&amp; risk workflows</a:t>
            </a:r>
            <a:endParaRPr lang="en-US" sz="1067" dirty="0"/>
          </a:p>
        </p:txBody>
      </p:sp>
      <p:sp>
        <p:nvSpPr>
          <p:cNvPr id="14" name="Shape 12"/>
          <p:cNvSpPr/>
          <p:nvPr/>
        </p:nvSpPr>
        <p:spPr>
          <a:xfrm>
            <a:off x="280416" y="2755392"/>
            <a:ext cx="2901696" cy="463296"/>
          </a:xfrm>
          <a:prstGeom prst="rect">
            <a:avLst/>
          </a:prstGeom>
          <a:solidFill>
            <a:srgbClr val="FC5D0D">
              <a:alpha val="15000"/>
            </a:srgbClr>
          </a:solidFill>
          <a:ln w="3810">
            <a:solidFill>
              <a:srgbClr val="FC5D0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15" name="Text 13"/>
          <p:cNvSpPr/>
          <p:nvPr/>
        </p:nvSpPr>
        <p:spPr>
          <a:xfrm>
            <a:off x="402336" y="2779776"/>
            <a:ext cx="271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600% faster  </a:t>
            </a:r>
            <a:r>
              <a:rPr lang="en-US" sz="1000" i="1" dirty="0">
                <a:solidFill>
                  <a:srgbClr val="7A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Halkbank Türkiye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7456" y="999744"/>
            <a:ext cx="2901696" cy="2218944"/>
          </a:xfrm>
          <a:prstGeom prst="rect">
            <a:avLst/>
          </a:prstGeom>
          <a:solidFill>
            <a:srgbClr val="FFFFFF">
              <a:alpha val="94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17" name="Shape 15"/>
          <p:cNvSpPr/>
          <p:nvPr/>
        </p:nvSpPr>
        <p:spPr>
          <a:xfrm>
            <a:off x="3267456" y="999744"/>
            <a:ext cx="2901696" cy="54864"/>
          </a:xfrm>
          <a:prstGeom prst="rect">
            <a:avLst/>
          </a:prstGeom>
          <a:solidFill>
            <a:srgbClr val="2EAA6A"/>
          </a:solidFill>
          <a:ln w="12700">
            <a:solidFill>
              <a:srgbClr val="2EAA6A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18" name="Text 16"/>
          <p:cNvSpPr/>
          <p:nvPr/>
        </p:nvSpPr>
        <p:spPr>
          <a:xfrm>
            <a:off x="3389376" y="1085088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spc="240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9376" y="1365504"/>
            <a:ext cx="2657856" cy="0"/>
          </a:xfrm>
          <a:prstGeom prst="line">
            <a:avLst/>
          </a:prstGeom>
          <a:noFill/>
          <a:ln w="6350">
            <a:solidFill>
              <a:srgbClr val="2EAA6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20" name="Text 18"/>
          <p:cNvSpPr/>
          <p:nvPr/>
        </p:nvSpPr>
        <p:spPr>
          <a:xfrm>
            <a:off x="3389376" y="1414272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processing</a:t>
            </a:r>
            <a:endParaRPr lang="en-US" sz="1067" dirty="0"/>
          </a:p>
        </p:txBody>
      </p:sp>
      <p:sp>
        <p:nvSpPr>
          <p:cNvPr id="21" name="Text 19"/>
          <p:cNvSpPr/>
          <p:nvPr/>
        </p:nvSpPr>
        <p:spPr>
          <a:xfrm>
            <a:off x="3389376" y="1664208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automation</a:t>
            </a:r>
            <a:endParaRPr lang="en-US" sz="1067" dirty="0"/>
          </a:p>
        </p:txBody>
      </p:sp>
      <p:sp>
        <p:nvSpPr>
          <p:cNvPr id="22" name="Text 20"/>
          <p:cNvSpPr/>
          <p:nvPr/>
        </p:nvSpPr>
        <p:spPr>
          <a:xfrm>
            <a:off x="3389376" y="1914144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management</a:t>
            </a:r>
            <a:endParaRPr lang="en-US" sz="1067" dirty="0"/>
          </a:p>
        </p:txBody>
      </p:sp>
      <p:sp>
        <p:nvSpPr>
          <p:cNvPr id="23" name="Text 21"/>
          <p:cNvSpPr/>
          <p:nvPr/>
        </p:nvSpPr>
        <p:spPr>
          <a:xfrm>
            <a:off x="3389376" y="2164080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</a:t>
            </a:r>
            <a:endParaRPr lang="en-US" sz="1067" dirty="0"/>
          </a:p>
        </p:txBody>
      </p:sp>
      <p:sp>
        <p:nvSpPr>
          <p:cNvPr id="24" name="Text 22"/>
          <p:cNvSpPr/>
          <p:nvPr/>
        </p:nvSpPr>
        <p:spPr>
          <a:xfrm>
            <a:off x="3389376" y="241401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1067" dirty="0"/>
          </a:p>
        </p:txBody>
      </p:sp>
      <p:sp>
        <p:nvSpPr>
          <p:cNvPr id="25" name="Shape 23"/>
          <p:cNvSpPr/>
          <p:nvPr/>
        </p:nvSpPr>
        <p:spPr>
          <a:xfrm>
            <a:off x="3267456" y="2755392"/>
            <a:ext cx="2901696" cy="463296"/>
          </a:xfrm>
          <a:prstGeom prst="rect">
            <a:avLst/>
          </a:prstGeom>
          <a:solidFill>
            <a:srgbClr val="2EAA6A">
              <a:alpha val="15000"/>
            </a:srgbClr>
          </a:solidFill>
          <a:ln w="3810">
            <a:solidFill>
              <a:srgbClr val="2EAA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26" name="Text 24"/>
          <p:cNvSpPr/>
          <p:nvPr/>
        </p:nvSpPr>
        <p:spPr>
          <a:xfrm>
            <a:off x="3389376" y="2779776"/>
            <a:ext cx="271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faster claims  </a:t>
            </a:r>
            <a:r>
              <a:rPr lang="en-US" sz="1000" i="1" dirty="0">
                <a:solidFill>
                  <a:srgbClr val="7A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Norfolk &amp; Dedham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54496" y="999744"/>
            <a:ext cx="2901696" cy="2218944"/>
          </a:xfrm>
          <a:prstGeom prst="rect">
            <a:avLst/>
          </a:prstGeom>
          <a:solidFill>
            <a:srgbClr val="FFFFFF">
              <a:alpha val="94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28" name="Shape 26"/>
          <p:cNvSpPr/>
          <p:nvPr/>
        </p:nvSpPr>
        <p:spPr>
          <a:xfrm>
            <a:off x="6254496" y="999744"/>
            <a:ext cx="2901696" cy="54864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29" name="Text 27"/>
          <p:cNvSpPr/>
          <p:nvPr/>
        </p:nvSpPr>
        <p:spPr>
          <a:xfrm>
            <a:off x="6376416" y="1085088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spc="24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76416" y="1365504"/>
            <a:ext cx="2657856" cy="0"/>
          </a:xfrm>
          <a:prstGeom prst="line">
            <a:avLst/>
          </a:prstGeom>
          <a:noFill/>
          <a:ln w="6350">
            <a:solidFill>
              <a:srgbClr val="5B8DE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31" name="Text 29"/>
          <p:cNvSpPr/>
          <p:nvPr/>
        </p:nvSpPr>
        <p:spPr>
          <a:xfrm>
            <a:off x="6376416" y="1414272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management</a:t>
            </a:r>
            <a:endParaRPr lang="en-US" sz="1067" dirty="0"/>
          </a:p>
        </p:txBody>
      </p:sp>
      <p:sp>
        <p:nvSpPr>
          <p:cNvPr id="32" name="Text 30"/>
          <p:cNvSpPr/>
          <p:nvPr/>
        </p:nvSpPr>
        <p:spPr>
          <a:xfrm>
            <a:off x="6376416" y="1664208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</a:t>
            </a:r>
            <a:endParaRPr lang="en-US" sz="1067" dirty="0"/>
          </a:p>
        </p:txBody>
      </p:sp>
      <p:sp>
        <p:nvSpPr>
          <p:cNvPr id="33" name="Text 31"/>
          <p:cNvSpPr/>
          <p:nvPr/>
        </p:nvSpPr>
        <p:spPr>
          <a:xfrm>
            <a:off x="6376416" y="1914144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handling</a:t>
            </a:r>
            <a:endParaRPr lang="en-US" sz="1067" dirty="0"/>
          </a:p>
        </p:txBody>
      </p:sp>
      <p:sp>
        <p:nvSpPr>
          <p:cNvPr id="34" name="Text 32"/>
          <p:cNvSpPr/>
          <p:nvPr/>
        </p:nvSpPr>
        <p:spPr>
          <a:xfrm>
            <a:off x="6376416" y="2164080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management</a:t>
            </a:r>
            <a:endParaRPr lang="en-US" sz="1067" dirty="0"/>
          </a:p>
        </p:txBody>
      </p:sp>
      <p:sp>
        <p:nvSpPr>
          <p:cNvPr id="35" name="Text 33"/>
          <p:cNvSpPr/>
          <p:nvPr/>
        </p:nvSpPr>
        <p:spPr>
          <a:xfrm>
            <a:off x="6376416" y="241401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equipment mgmt</a:t>
            </a:r>
            <a:endParaRPr lang="en-US" sz="1067" dirty="0"/>
          </a:p>
        </p:txBody>
      </p:sp>
      <p:sp>
        <p:nvSpPr>
          <p:cNvPr id="36" name="Shape 34"/>
          <p:cNvSpPr/>
          <p:nvPr/>
        </p:nvSpPr>
        <p:spPr>
          <a:xfrm>
            <a:off x="6254496" y="2755392"/>
            <a:ext cx="2901696" cy="463296"/>
          </a:xfrm>
          <a:prstGeom prst="rect">
            <a:avLst/>
          </a:prstGeom>
          <a:solidFill>
            <a:srgbClr val="5B8DEF">
              <a:alpha val="15000"/>
            </a:srgbClr>
          </a:solidFill>
          <a:ln w="3810">
            <a:solidFill>
              <a:srgbClr val="5B8DE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37" name="Text 35"/>
          <p:cNvSpPr/>
          <p:nvPr/>
        </p:nvSpPr>
        <p:spPr>
          <a:xfrm>
            <a:off x="6376416" y="2779776"/>
            <a:ext cx="271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faster launch  </a:t>
            </a:r>
            <a:r>
              <a:rPr lang="en-US" sz="1000" i="1" dirty="0">
                <a:solidFill>
                  <a:srgbClr val="7A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T-Mobile Austria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241536" y="999744"/>
            <a:ext cx="2901696" cy="2218944"/>
          </a:xfrm>
          <a:prstGeom prst="rect">
            <a:avLst/>
          </a:prstGeom>
          <a:solidFill>
            <a:srgbClr val="FFFFFF">
              <a:alpha val="94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39" name="Shape 37"/>
          <p:cNvSpPr/>
          <p:nvPr/>
        </p:nvSpPr>
        <p:spPr>
          <a:xfrm>
            <a:off x="9241536" y="999744"/>
            <a:ext cx="2901696" cy="54864"/>
          </a:xfrm>
          <a:prstGeom prst="rect">
            <a:avLst/>
          </a:prstGeom>
          <a:solidFill>
            <a:srgbClr val="A87BFF"/>
          </a:solidFill>
          <a:ln w="12700">
            <a:solidFill>
              <a:srgbClr val="A87BFF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40" name="Text 38"/>
          <p:cNvSpPr/>
          <p:nvPr/>
        </p:nvSpPr>
        <p:spPr>
          <a:xfrm>
            <a:off x="9363456" y="1085088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spc="240" dirty="0">
                <a:solidFill>
                  <a:srgbClr val="A8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363456" y="1365504"/>
            <a:ext cx="2657856" cy="0"/>
          </a:xfrm>
          <a:prstGeom prst="line">
            <a:avLst/>
          </a:prstGeom>
          <a:noFill/>
          <a:ln w="6350">
            <a:solidFill>
              <a:srgbClr val="A87B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42" name="Text 40"/>
          <p:cNvSpPr/>
          <p:nvPr/>
        </p:nvSpPr>
        <p:spPr>
          <a:xfrm>
            <a:off x="9363456" y="1414272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A8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care management</a:t>
            </a:r>
            <a:endParaRPr lang="en-US" sz="1067" dirty="0"/>
          </a:p>
        </p:txBody>
      </p:sp>
      <p:sp>
        <p:nvSpPr>
          <p:cNvPr id="43" name="Text 41"/>
          <p:cNvSpPr/>
          <p:nvPr/>
        </p:nvSpPr>
        <p:spPr>
          <a:xfrm>
            <a:off x="9363456" y="1664208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A8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onboarding</a:t>
            </a:r>
            <a:endParaRPr lang="en-US" sz="1067" dirty="0"/>
          </a:p>
        </p:txBody>
      </p:sp>
      <p:sp>
        <p:nvSpPr>
          <p:cNvPr id="44" name="Text 42"/>
          <p:cNvSpPr/>
          <p:nvPr/>
        </p:nvSpPr>
        <p:spPr>
          <a:xfrm>
            <a:off x="9363456" y="1914144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A8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workflows</a:t>
            </a:r>
            <a:endParaRPr lang="en-US" sz="1067" dirty="0"/>
          </a:p>
        </p:txBody>
      </p:sp>
      <p:sp>
        <p:nvSpPr>
          <p:cNvPr id="45" name="Text 43"/>
          <p:cNvSpPr/>
          <p:nvPr/>
        </p:nvSpPr>
        <p:spPr>
          <a:xfrm>
            <a:off x="9363456" y="2164080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A8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processing</a:t>
            </a:r>
            <a:endParaRPr lang="en-US" sz="1067" dirty="0"/>
          </a:p>
        </p:txBody>
      </p:sp>
      <p:sp>
        <p:nvSpPr>
          <p:cNvPr id="46" name="Text 44"/>
          <p:cNvSpPr/>
          <p:nvPr/>
        </p:nvSpPr>
        <p:spPr>
          <a:xfrm>
            <a:off x="9363456" y="241401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A8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optimization</a:t>
            </a:r>
            <a:endParaRPr lang="en-US" sz="1067" dirty="0"/>
          </a:p>
        </p:txBody>
      </p:sp>
      <p:sp>
        <p:nvSpPr>
          <p:cNvPr id="47" name="Shape 45"/>
          <p:cNvSpPr/>
          <p:nvPr/>
        </p:nvSpPr>
        <p:spPr>
          <a:xfrm>
            <a:off x="9241536" y="2755392"/>
            <a:ext cx="2901696" cy="463296"/>
          </a:xfrm>
          <a:prstGeom prst="rect">
            <a:avLst/>
          </a:prstGeom>
          <a:solidFill>
            <a:srgbClr val="A87BFF">
              <a:alpha val="15000"/>
            </a:srgbClr>
          </a:solidFill>
          <a:ln w="3810">
            <a:solidFill>
              <a:srgbClr val="A87B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48" name="Text 46"/>
          <p:cNvSpPr/>
          <p:nvPr/>
        </p:nvSpPr>
        <p:spPr>
          <a:xfrm>
            <a:off x="9363456" y="2779776"/>
            <a:ext cx="271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A8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automated  </a:t>
            </a:r>
            <a:r>
              <a:rPr lang="en-US" sz="1000" i="1" dirty="0">
                <a:solidFill>
                  <a:srgbClr val="7A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Wellpointe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773936" y="3304032"/>
            <a:ext cx="2901696" cy="2218944"/>
          </a:xfrm>
          <a:prstGeom prst="rect">
            <a:avLst/>
          </a:prstGeom>
          <a:solidFill>
            <a:srgbClr val="FFFFFF">
              <a:alpha val="94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50" name="Shape 48"/>
          <p:cNvSpPr/>
          <p:nvPr/>
        </p:nvSpPr>
        <p:spPr>
          <a:xfrm>
            <a:off x="1773936" y="3304032"/>
            <a:ext cx="2901696" cy="54864"/>
          </a:xfrm>
          <a:prstGeom prst="rect">
            <a:avLst/>
          </a:prstGeom>
          <a:solidFill>
            <a:srgbClr val="FC5D0D"/>
          </a:solidFill>
          <a:ln w="12700">
            <a:solidFill>
              <a:srgbClr val="FC5D0D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51" name="Text 49"/>
          <p:cNvSpPr/>
          <p:nvPr/>
        </p:nvSpPr>
        <p:spPr>
          <a:xfrm>
            <a:off x="1895856" y="338937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spc="240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95856" y="3669792"/>
            <a:ext cx="2657856" cy="0"/>
          </a:xfrm>
          <a:prstGeom prst="line">
            <a:avLst/>
          </a:prstGeom>
          <a:noFill/>
          <a:ln w="6350">
            <a:solidFill>
              <a:srgbClr val="FC5D0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53" name="Text 51"/>
          <p:cNvSpPr/>
          <p:nvPr/>
        </p:nvSpPr>
        <p:spPr>
          <a:xfrm>
            <a:off x="1895856" y="3718560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&amp; payment flows</a:t>
            </a:r>
            <a:endParaRPr lang="en-US" sz="1067" dirty="0"/>
          </a:p>
        </p:txBody>
      </p:sp>
      <p:sp>
        <p:nvSpPr>
          <p:cNvPr id="54" name="Text 52"/>
          <p:cNvSpPr/>
          <p:nvPr/>
        </p:nvSpPr>
        <p:spPr>
          <a:xfrm>
            <a:off x="1895856" y="396849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management</a:t>
            </a:r>
            <a:endParaRPr lang="en-US" sz="1067" dirty="0"/>
          </a:p>
        </p:txBody>
      </p:sp>
      <p:sp>
        <p:nvSpPr>
          <p:cNvPr id="55" name="Text 53"/>
          <p:cNvSpPr/>
          <p:nvPr/>
        </p:nvSpPr>
        <p:spPr>
          <a:xfrm>
            <a:off x="1895856" y="4218432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Customs &amp; documentation</a:t>
            </a:r>
            <a:endParaRPr lang="en-US" sz="1067" dirty="0"/>
          </a:p>
        </p:txBody>
      </p:sp>
      <p:sp>
        <p:nvSpPr>
          <p:cNvPr id="56" name="Text 54"/>
          <p:cNvSpPr/>
          <p:nvPr/>
        </p:nvSpPr>
        <p:spPr>
          <a:xfrm>
            <a:off x="1895856" y="4468368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 tracking</a:t>
            </a:r>
            <a:endParaRPr lang="en-US" sz="1067" dirty="0"/>
          </a:p>
        </p:txBody>
      </p:sp>
      <p:sp>
        <p:nvSpPr>
          <p:cNvPr id="57" name="Text 55"/>
          <p:cNvSpPr/>
          <p:nvPr/>
        </p:nvSpPr>
        <p:spPr>
          <a:xfrm>
            <a:off x="1895856" y="4718304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optimization</a:t>
            </a:r>
            <a:endParaRPr lang="en-US" sz="1067" dirty="0"/>
          </a:p>
        </p:txBody>
      </p:sp>
      <p:sp>
        <p:nvSpPr>
          <p:cNvPr id="58" name="Shape 56"/>
          <p:cNvSpPr/>
          <p:nvPr/>
        </p:nvSpPr>
        <p:spPr>
          <a:xfrm>
            <a:off x="1773936" y="5059680"/>
            <a:ext cx="2901696" cy="463296"/>
          </a:xfrm>
          <a:prstGeom prst="rect">
            <a:avLst/>
          </a:prstGeom>
          <a:solidFill>
            <a:srgbClr val="FC5D0D">
              <a:alpha val="15000"/>
            </a:srgbClr>
          </a:solidFill>
          <a:ln w="3810">
            <a:solidFill>
              <a:srgbClr val="FC5D0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59" name="Text 57"/>
          <p:cNvSpPr/>
          <p:nvPr/>
        </p:nvSpPr>
        <p:spPr>
          <a:xfrm>
            <a:off x="1895856" y="5084064"/>
            <a:ext cx="271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 parcels/yr  </a:t>
            </a:r>
            <a:r>
              <a:rPr lang="en-US" sz="1000" i="1" dirty="0">
                <a:solidFill>
                  <a:srgbClr val="7A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GLS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760976" y="3304032"/>
            <a:ext cx="2901696" cy="2218944"/>
          </a:xfrm>
          <a:prstGeom prst="rect">
            <a:avLst/>
          </a:prstGeom>
          <a:solidFill>
            <a:srgbClr val="FFFFFF">
              <a:alpha val="94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61" name="Shape 59"/>
          <p:cNvSpPr/>
          <p:nvPr/>
        </p:nvSpPr>
        <p:spPr>
          <a:xfrm>
            <a:off x="4760976" y="3304032"/>
            <a:ext cx="2901696" cy="54864"/>
          </a:xfrm>
          <a:prstGeom prst="rect">
            <a:avLst/>
          </a:prstGeom>
          <a:solidFill>
            <a:srgbClr val="2EAA6A"/>
          </a:solidFill>
          <a:ln w="12700">
            <a:solidFill>
              <a:srgbClr val="2EAA6A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62" name="Text 60"/>
          <p:cNvSpPr/>
          <p:nvPr/>
        </p:nvSpPr>
        <p:spPr>
          <a:xfrm>
            <a:off x="4882896" y="338937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spc="240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SECTOR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882896" y="3669792"/>
            <a:ext cx="2657856" cy="0"/>
          </a:xfrm>
          <a:prstGeom prst="line">
            <a:avLst/>
          </a:prstGeom>
          <a:noFill/>
          <a:ln w="6350">
            <a:solidFill>
              <a:srgbClr val="2EAA6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64" name="Text 62"/>
          <p:cNvSpPr/>
          <p:nvPr/>
        </p:nvSpPr>
        <p:spPr>
          <a:xfrm>
            <a:off x="4882896" y="3718560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management</a:t>
            </a:r>
            <a:endParaRPr lang="en-US" sz="1067" dirty="0"/>
          </a:p>
        </p:txBody>
      </p:sp>
      <p:sp>
        <p:nvSpPr>
          <p:cNvPr id="65" name="Text 63"/>
          <p:cNvSpPr/>
          <p:nvPr/>
        </p:nvSpPr>
        <p:spPr>
          <a:xfrm>
            <a:off x="4882896" y="396849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&amp; enrollment</a:t>
            </a:r>
            <a:endParaRPr lang="en-US" sz="1067" dirty="0"/>
          </a:p>
        </p:txBody>
      </p:sp>
      <p:sp>
        <p:nvSpPr>
          <p:cNvPr id="66" name="Text 64"/>
          <p:cNvSpPr/>
          <p:nvPr/>
        </p:nvSpPr>
        <p:spPr>
          <a:xfrm>
            <a:off x="4882896" y="4218432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management</a:t>
            </a:r>
            <a:endParaRPr lang="en-US" sz="1067" dirty="0"/>
          </a:p>
        </p:txBody>
      </p:sp>
      <p:sp>
        <p:nvSpPr>
          <p:cNvPr id="67" name="Text 65"/>
          <p:cNvSpPr/>
          <p:nvPr/>
        </p:nvSpPr>
        <p:spPr>
          <a:xfrm>
            <a:off x="4882896" y="4468368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management</a:t>
            </a:r>
            <a:endParaRPr lang="en-US" sz="1067" dirty="0"/>
          </a:p>
        </p:txBody>
      </p:sp>
      <p:sp>
        <p:nvSpPr>
          <p:cNvPr id="68" name="Text 66"/>
          <p:cNvSpPr/>
          <p:nvPr/>
        </p:nvSpPr>
        <p:spPr>
          <a:xfrm>
            <a:off x="4882896" y="4718304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access mgmt</a:t>
            </a:r>
            <a:endParaRPr lang="en-US" sz="1067" dirty="0"/>
          </a:p>
        </p:txBody>
      </p:sp>
      <p:sp>
        <p:nvSpPr>
          <p:cNvPr id="69" name="Shape 67"/>
          <p:cNvSpPr/>
          <p:nvPr/>
        </p:nvSpPr>
        <p:spPr>
          <a:xfrm>
            <a:off x="4760976" y="5059680"/>
            <a:ext cx="2901696" cy="463296"/>
          </a:xfrm>
          <a:prstGeom prst="rect">
            <a:avLst/>
          </a:prstGeom>
          <a:solidFill>
            <a:srgbClr val="2EAA6A">
              <a:alpha val="15000"/>
            </a:srgbClr>
          </a:solidFill>
          <a:ln w="3810">
            <a:solidFill>
              <a:srgbClr val="2EAA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70" name="Text 68"/>
          <p:cNvSpPr/>
          <p:nvPr/>
        </p:nvSpPr>
        <p:spPr>
          <a:xfrm>
            <a:off x="4882896" y="5084064"/>
            <a:ext cx="271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E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less admin  </a:t>
            </a:r>
            <a:r>
              <a:rPr lang="en-US" sz="1000" i="1" dirty="0">
                <a:solidFill>
                  <a:srgbClr val="7A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City of Lugano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7748016" y="3304032"/>
            <a:ext cx="2901696" cy="2218944"/>
          </a:xfrm>
          <a:prstGeom prst="rect">
            <a:avLst/>
          </a:prstGeom>
          <a:solidFill>
            <a:srgbClr val="FFFFFF">
              <a:alpha val="94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72" name="Shape 70"/>
          <p:cNvSpPr/>
          <p:nvPr/>
        </p:nvSpPr>
        <p:spPr>
          <a:xfrm>
            <a:off x="7748016" y="3304032"/>
            <a:ext cx="2901696" cy="54864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73" name="Text 71"/>
          <p:cNvSpPr/>
          <p:nvPr/>
        </p:nvSpPr>
        <p:spPr>
          <a:xfrm>
            <a:off x="7869936" y="338937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spc="24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869936" y="3669792"/>
            <a:ext cx="2657856" cy="0"/>
          </a:xfrm>
          <a:prstGeom prst="line">
            <a:avLst/>
          </a:prstGeom>
          <a:noFill/>
          <a:ln w="6350">
            <a:solidFill>
              <a:srgbClr val="5B8DE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75" name="Text 73"/>
          <p:cNvSpPr/>
          <p:nvPr/>
        </p:nvSpPr>
        <p:spPr>
          <a:xfrm>
            <a:off x="7869936" y="3718560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orchestration</a:t>
            </a:r>
            <a:endParaRPr lang="en-US" sz="1067" dirty="0"/>
          </a:p>
        </p:txBody>
      </p:sp>
      <p:sp>
        <p:nvSpPr>
          <p:cNvPr id="76" name="Text 74"/>
          <p:cNvSpPr/>
          <p:nvPr/>
        </p:nvSpPr>
        <p:spPr>
          <a:xfrm>
            <a:off x="7869936" y="396849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integration</a:t>
            </a:r>
            <a:endParaRPr lang="en-US" sz="1067" dirty="0"/>
          </a:p>
        </p:txBody>
      </p:sp>
      <p:sp>
        <p:nvSpPr>
          <p:cNvPr id="77" name="Text 75"/>
          <p:cNvSpPr/>
          <p:nvPr/>
        </p:nvSpPr>
        <p:spPr>
          <a:xfrm>
            <a:off x="7869936" y="4218432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</a:t>
            </a:r>
            <a:endParaRPr lang="en-US" sz="1067" dirty="0"/>
          </a:p>
        </p:txBody>
      </p:sp>
      <p:sp>
        <p:nvSpPr>
          <p:cNvPr id="78" name="Text 76"/>
          <p:cNvSpPr/>
          <p:nvPr/>
        </p:nvSpPr>
        <p:spPr>
          <a:xfrm>
            <a:off x="7869936" y="4468368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automation</a:t>
            </a:r>
            <a:endParaRPr lang="en-US" sz="1067" dirty="0"/>
          </a:p>
        </p:txBody>
      </p:sp>
      <p:sp>
        <p:nvSpPr>
          <p:cNvPr id="79" name="Text 77"/>
          <p:cNvSpPr/>
          <p:nvPr/>
        </p:nvSpPr>
        <p:spPr>
          <a:xfrm>
            <a:off x="7869936" y="4718304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1067" dirty="0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revenue flows</a:t>
            </a:r>
            <a:endParaRPr lang="en-US" sz="1067" dirty="0"/>
          </a:p>
        </p:txBody>
      </p:sp>
      <p:sp>
        <p:nvSpPr>
          <p:cNvPr id="80" name="Shape 78"/>
          <p:cNvSpPr/>
          <p:nvPr/>
        </p:nvSpPr>
        <p:spPr>
          <a:xfrm>
            <a:off x="7748016" y="5059680"/>
            <a:ext cx="2901696" cy="463296"/>
          </a:xfrm>
          <a:prstGeom prst="rect">
            <a:avLst/>
          </a:prstGeom>
          <a:solidFill>
            <a:srgbClr val="5B8DEF">
              <a:alpha val="15000"/>
            </a:srgbClr>
          </a:solidFill>
          <a:ln w="3810">
            <a:solidFill>
              <a:srgbClr val="5B8DE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81" name="Text 79"/>
          <p:cNvSpPr/>
          <p:nvPr/>
        </p:nvSpPr>
        <p:spPr>
          <a:xfrm>
            <a:off x="7869936" y="5084064"/>
            <a:ext cx="271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30× ROI  </a:t>
            </a:r>
            <a:r>
              <a:rPr lang="en-US" sz="1000" i="1" dirty="0">
                <a:solidFill>
                  <a:srgbClr val="7A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Atlassian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280416" y="5693664"/>
            <a:ext cx="20970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spc="67" dirty="0">
                <a:solidFill>
                  <a:srgbClr val="FC5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IF YOU HEAR →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2474976" y="5644896"/>
            <a:ext cx="1889760" cy="438912"/>
          </a:xfrm>
          <a:prstGeom prst="rect">
            <a:avLst/>
          </a:prstGeom>
          <a:solidFill>
            <a:srgbClr val="FC5D0D">
              <a:alpha val="14000"/>
            </a:srgbClr>
          </a:solidFill>
          <a:ln w="5080">
            <a:solidFill>
              <a:srgbClr val="FC5D0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84" name="Text 82"/>
          <p:cNvSpPr/>
          <p:nvPr/>
        </p:nvSpPr>
        <p:spPr>
          <a:xfrm>
            <a:off x="2560320" y="5657088"/>
            <a:ext cx="17678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workflow / RPA at its ceiling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431792" y="5644896"/>
            <a:ext cx="1889760" cy="438912"/>
          </a:xfrm>
          <a:prstGeom prst="rect">
            <a:avLst/>
          </a:prstGeom>
          <a:solidFill>
            <a:srgbClr val="FC5D0D">
              <a:alpha val="14000"/>
            </a:srgbClr>
          </a:solidFill>
          <a:ln w="5080">
            <a:solidFill>
              <a:srgbClr val="FC5D0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86" name="Text 84"/>
          <p:cNvSpPr/>
          <p:nvPr/>
        </p:nvSpPr>
        <p:spPr>
          <a:xfrm>
            <a:off x="4517136" y="5657088"/>
            <a:ext cx="17678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spans 3+ systems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388608" y="5644896"/>
            <a:ext cx="1889760" cy="438912"/>
          </a:xfrm>
          <a:prstGeom prst="rect">
            <a:avLst/>
          </a:prstGeom>
          <a:solidFill>
            <a:srgbClr val="FC5D0D">
              <a:alpha val="14000"/>
            </a:srgbClr>
          </a:solidFill>
          <a:ln w="5080">
            <a:solidFill>
              <a:srgbClr val="FC5D0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88" name="Text 86"/>
          <p:cNvSpPr/>
          <p:nvPr/>
        </p:nvSpPr>
        <p:spPr>
          <a:xfrm>
            <a:off x="6473952" y="5657088"/>
            <a:ext cx="17678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human approvals in one flow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345424" y="5644896"/>
            <a:ext cx="1889760" cy="438912"/>
          </a:xfrm>
          <a:prstGeom prst="rect">
            <a:avLst/>
          </a:prstGeom>
          <a:solidFill>
            <a:srgbClr val="FC5D0D">
              <a:alpha val="14000"/>
            </a:srgbClr>
          </a:solidFill>
          <a:ln w="5080">
            <a:solidFill>
              <a:srgbClr val="FC5D0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90" name="Text 88"/>
          <p:cNvSpPr/>
          <p:nvPr/>
        </p:nvSpPr>
        <p:spPr>
          <a:xfrm>
            <a:off x="8430768" y="5657088"/>
            <a:ext cx="17678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industry needing audit trail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0302240" y="5644896"/>
            <a:ext cx="1889760" cy="438912"/>
          </a:xfrm>
          <a:prstGeom prst="rect">
            <a:avLst/>
          </a:prstGeom>
          <a:solidFill>
            <a:srgbClr val="FC5D0D">
              <a:alpha val="14000"/>
            </a:srgbClr>
          </a:solidFill>
          <a:ln w="5080">
            <a:solidFill>
              <a:srgbClr val="FC5D0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92" name="Text 90"/>
          <p:cNvSpPr/>
          <p:nvPr/>
        </p:nvSpPr>
        <p:spPr>
          <a:xfrm>
            <a:off x="10387584" y="5657088"/>
            <a:ext cx="17678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SLA pressure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158496" y="6608064"/>
            <a:ext cx="1158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3A4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camunda.com  |  partners.camunda.com  |  CONFIDENTIAL — PARTNER USE ONLY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1371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agents are powerful. But deployed alone,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create chaos — not outcomes.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65760" y="1444752"/>
            <a:ext cx="11430000" cy="96012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65760" y="1444752"/>
            <a:ext cx="73152" cy="96012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94360" y="1508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lang="en-US" sz="1200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"AI agents lose value if deployed in isolation; they must be anchored within explicit business processes that coordinate decisions, execution, and human oversight."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94360" y="212140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— Gartner, Universal Orchestrator: Governing AI Agents, Bots, and Humans at Scale, February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65760" y="2606040"/>
            <a:ext cx="5486400" cy="1737360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65760" y="2606040"/>
            <a:ext cx="54864" cy="173736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27889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1005840" y="2770632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5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4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end-to-end process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8640" y="3227832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lang="en-US" sz="12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Agents handle individual steps. Nobody owns the full journey — orders, claims, onboarding all break at handoff points.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172200" y="2606040"/>
            <a:ext cx="5486400" cy="1737360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172200" y="2606040"/>
            <a:ext cx="54864" cy="173736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5080" y="27889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6812280" y="2770632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visibility or audit trail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355080" y="3227832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lang="en-US" sz="12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80% of agents today are chatbots. When something goes wrong, there's no record of what happened or why.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65760" y="4526280"/>
            <a:ext cx="5486400" cy="1737360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65760" y="4526280"/>
            <a:ext cx="54864" cy="173736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47091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1005840" y="4690872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governance or compliance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48640" y="5148072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lang="en-US" sz="12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84% of enterprises cite business risk from AI without IT controls. In regulated industries, this is a blocker.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172200" y="4526280"/>
            <a:ext cx="5486400" cy="1737360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172200" y="4526280"/>
            <a:ext cx="54864" cy="173736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5080" y="47091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6812280" y="4690872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sprawl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355080" y="5148072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lang="en-US" sz="12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Every new AI tool adds capability — and fragmentation. The more agents deployed, the messier it gets.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92456" y="137149"/>
            <a:ext cx="2369066" cy="3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1371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Camunda runs the process. The AI handles the hard parts. Humans stay in control.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20040" y="1298448"/>
            <a:ext cx="2514600" cy="3383280"/>
          </a:xfrm>
          <a:prstGeom prst="rect">
            <a:avLst/>
          </a:prstGeom>
          <a:solidFill>
            <a:srgbClr val="0F62F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20040" y="138988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94360" y="1874520"/>
            <a:ext cx="19659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20040" y="2011680"/>
            <a:ext cx="251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Trigger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84632" y="2743200"/>
            <a:ext cx="219456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business </a:t>
            </a: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 fires — a claim arrives, a ticket opens, a transfer is requested.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834640" y="2514600"/>
            <a:ext cx="365760" cy="54864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898648" y="2331720"/>
            <a:ext cx="23774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200400" y="1298448"/>
            <a:ext cx="2514600" cy="3383280"/>
          </a:xfrm>
          <a:prstGeom prst="rect">
            <a:avLst/>
          </a:prstGeom>
          <a:solidFill>
            <a:srgbClr val="6967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00400" y="138988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474720" y="1874520"/>
            <a:ext cx="19659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200400" y="201168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Decides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364992" y="2743200"/>
            <a:ext cx="219456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AI reads the situation, chooses which steps to take. No pre-written script for exceptions</a:t>
            </a: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715000" y="2514600"/>
            <a:ext cx="365760" cy="54864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779008" y="2331720"/>
            <a:ext cx="23774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080760" y="1298448"/>
            <a:ext cx="2514600" cy="3383280"/>
          </a:xfrm>
          <a:prstGeom prst="rect">
            <a:avLst/>
          </a:prstGeom>
          <a:solidFill>
            <a:srgbClr val="FC5D0D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080760" y="138988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355080" y="1874520"/>
            <a:ext cx="19659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080760" y="201168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Camunda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Governs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245352" y="2743200"/>
            <a:ext cx="219456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Only approved tools. Defined escalation paths. Every action logged. Full audit trail.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595360" y="2514600"/>
            <a:ext cx="365760" cy="54864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8659368" y="2331720"/>
            <a:ext cx="23774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961120" y="1298448"/>
            <a:ext cx="2514600" cy="3383280"/>
          </a:xfrm>
          <a:prstGeom prst="rect">
            <a:avLst/>
          </a:prstGeom>
          <a:solidFill>
            <a:srgbClr val="26D07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961120" y="138988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235440" y="1874520"/>
            <a:ext cx="19659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8961120" y="201168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 Done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9125712" y="2743200"/>
            <a:ext cx="219456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ow-confidence cases escalate to a human. Complex resolved: the process completes cleanly.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20040" y="4892040"/>
            <a:ext cx="11430000" cy="1600200"/>
          </a:xfrm>
          <a:prstGeom prst="rect">
            <a:avLst/>
          </a:prstGeom>
          <a:solidFill>
            <a:srgbClr val="FFFFFF">
              <a:alpha val="94117"/>
            </a:srgbClr>
          </a:solidFill>
          <a:ln w="12700" cap="flat" cmpd="sng">
            <a:solidFill>
              <a:srgbClr val="FC5D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48640" y="4983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45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CAMUNDA GOVERNS ALL OF THIS: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53492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/>
          <p:nvPr/>
        </p:nvSpPr>
        <p:spPr>
          <a:xfrm>
            <a:off x="850392" y="532180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 audit trail — every action logged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53492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/>
          <p:nvPr/>
        </p:nvSpPr>
        <p:spPr>
          <a:xfrm>
            <a:off x="6473952" y="532180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Agent-agnostic — works with any AI provider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57332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/>
          <p:nvPr/>
        </p:nvSpPr>
        <p:spPr>
          <a:xfrm>
            <a:off x="850392" y="570585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autonomy — you set the boundaries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57332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6473952" y="570585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visibility via Camunda Operate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2927" y="114302"/>
            <a:ext cx="2369066" cy="3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1371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YOUR PITCH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moves. Any customer. Any industry.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65760" y="1170432"/>
            <a:ext cx="594360" cy="8229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65760" y="1170432"/>
            <a:ext cx="594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051560" y="1170432"/>
            <a:ext cx="914400" cy="8229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051560" y="1170432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62FE"/>
              </a:buClr>
              <a:buSzPts val="850"/>
              <a:buFont typeface="Arial"/>
              <a:buNone/>
            </a:pPr>
            <a:r>
              <a:rPr lang="en-US" sz="1250" b="1">
                <a:solidFill>
                  <a:srgbClr val="0F62FE"/>
                </a:solidFill>
                <a:latin typeface="Arial"/>
                <a:ea typeface="Arial"/>
                <a:cs typeface="Arial"/>
                <a:sym typeface="Arial"/>
              </a:rPr>
              <a:t>HOOK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2057400" y="1170432"/>
            <a:ext cx="9784080" cy="8229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057400" y="1170432"/>
            <a:ext cx="45720" cy="8229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212848" y="1225296"/>
            <a:ext cx="94640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lang="en-US" sz="1200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"71% of enterprises already use AI agents. But only 11% ever made it to production. The gap between experimenting and operating safely — that's where we help."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65760" y="2221992"/>
            <a:ext cx="594360" cy="822960"/>
          </a:xfrm>
          <a:prstGeom prst="rect">
            <a:avLst/>
          </a:prstGeom>
          <a:solidFill>
            <a:srgbClr val="6967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65760" y="2221992"/>
            <a:ext cx="594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051560" y="2221992"/>
            <a:ext cx="914400" cy="8229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051560" y="2221992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967FF"/>
              </a:buClr>
              <a:buSzPts val="850"/>
              <a:buFont typeface="Arial"/>
              <a:buNone/>
            </a:pPr>
            <a:r>
              <a:rPr lang="en-US" sz="1250" b="1">
                <a:solidFill>
                  <a:srgbClr val="6967F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057400" y="2221992"/>
            <a:ext cx="9784080" cy="8229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057400" y="2221992"/>
            <a:ext cx="45720" cy="822960"/>
          </a:xfrm>
          <a:prstGeom prst="rect">
            <a:avLst/>
          </a:prstGeom>
          <a:solidFill>
            <a:srgbClr val="6967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2212848" y="2276856"/>
            <a:ext cx="94640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lang="en-US" sz="1200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"Building agents is easy. Governing them at scale — across weeks-long processes, multiple systems, regulated environments — that's the hard part nobody's solved yet."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65760" y="3273552"/>
            <a:ext cx="594360" cy="82296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65760" y="3273552"/>
            <a:ext cx="594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051560" y="3273552"/>
            <a:ext cx="914400" cy="8229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051560" y="3273552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850"/>
              <a:buFont typeface="Arial"/>
              <a:buNone/>
            </a:pPr>
            <a:r>
              <a:rPr lang="en-US" sz="1250" b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2057400" y="3273552"/>
            <a:ext cx="9784080" cy="8229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057400" y="3273552"/>
            <a:ext cx="45720" cy="82296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2212848" y="3328416"/>
            <a:ext cx="94640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lang="en-US" sz="1200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"Agentic Orchestration blends AI reasoning for the exceptions with rules-based control for the predictable steps. Speed of AI. Reliability of a governed process. In one platform."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65760" y="4325112"/>
            <a:ext cx="594360" cy="822960"/>
          </a:xfrm>
          <a:prstGeom prst="rect">
            <a:avLst/>
          </a:prstGeom>
          <a:solidFill>
            <a:srgbClr val="26D07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65760" y="4325112"/>
            <a:ext cx="594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1051560" y="4325112"/>
            <a:ext cx="914400" cy="8229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051560" y="4325112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D07C"/>
              </a:buClr>
              <a:buSzPts val="850"/>
              <a:buFont typeface="Arial"/>
              <a:buNone/>
            </a:pPr>
            <a:r>
              <a:rPr lang="en-US" sz="1250" b="1">
                <a:solidFill>
                  <a:srgbClr val="26D07C"/>
                </a:solidFill>
                <a:latin typeface="Arial"/>
                <a:ea typeface="Arial"/>
                <a:cs typeface="Arial"/>
                <a:sym typeface="Arial"/>
              </a:rPr>
              <a:t>PROOF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057400" y="4325112"/>
            <a:ext cx="9784080" cy="8229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057400" y="4325112"/>
            <a:ext cx="45720" cy="822960"/>
          </a:xfrm>
          <a:prstGeom prst="rect">
            <a:avLst/>
          </a:prstGeom>
          <a:solidFill>
            <a:srgbClr val="26D07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212848" y="4379976"/>
            <a:ext cx="94640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lang="en-US" sz="1200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"A bank cut money transfers from 54 seconds to 9 seconds. A healthcare provider automated 85% of medication orders. A telecom company went from 8-hour response to minutes. All in production."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65760" y="5376672"/>
            <a:ext cx="594360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65760" y="5376672"/>
            <a:ext cx="594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051560" y="5376672"/>
            <a:ext cx="914400" cy="8229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5376672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850"/>
              <a:buFont typeface="Arial"/>
              <a:buNone/>
            </a:pPr>
            <a:r>
              <a:rPr lang="en-US" sz="1250" b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NEXT STEP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2057400" y="5376672"/>
            <a:ext cx="9784080" cy="8229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2057400" y="5376672"/>
            <a:ext cx="45720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2212848" y="5431536"/>
            <a:ext cx="94640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lang="en-US" sz="1200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"The best first step is a focused workshop — map one process, identify the opportunity, prototype it in a day or two. Want to do that with your top account this quarter?"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6604" y="141736"/>
            <a:ext cx="1994931" cy="2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57200" y="1371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DISCOVERY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signals that mean: this customer needs Agentic Orchestration.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65760" y="1234440"/>
            <a:ext cx="557784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65760" y="1234440"/>
            <a:ext cx="5577840" cy="54864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30352" y="1399032"/>
            <a:ext cx="384048" cy="384048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30352" y="13990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4128" y="13990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7"/>
          <p:cNvSpPr/>
          <p:nvPr/>
        </p:nvSpPr>
        <p:spPr>
          <a:xfrm>
            <a:off x="530352" y="1856232"/>
            <a:ext cx="52303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agents, many tools — no coordination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30352" y="2258568"/>
            <a:ext cx="52303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They're running agents from multiple vendors with no central layer. Every new agent is another silo.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30352" y="2880360"/>
            <a:ext cx="5230368" cy="59436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30352" y="2880360"/>
            <a:ext cx="45720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40080" y="292608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2FE"/>
              </a:buClr>
              <a:buSzPts val="1000"/>
              <a:buFont typeface="Arial"/>
              <a:buNone/>
            </a:pPr>
            <a:r>
              <a:rPr lang="en-US" sz="1100" i="1">
                <a:solidFill>
                  <a:srgbClr val="0F62FE"/>
                </a:solidFill>
                <a:latin typeface="Arial"/>
                <a:ea typeface="Arial"/>
                <a:cs typeface="Arial"/>
                <a:sym typeface="Arial"/>
              </a:rPr>
              <a:t>"How do your teams coordinate when an AI output from one system needs to feed into another?"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217920" y="1234440"/>
            <a:ext cx="557784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217920" y="1234440"/>
            <a:ext cx="5577840" cy="54864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382512" y="1399032"/>
            <a:ext cx="384048" cy="384048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382512" y="13990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76288" y="13990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/>
          <p:nvPr/>
        </p:nvSpPr>
        <p:spPr>
          <a:xfrm>
            <a:off x="6382512" y="1856232"/>
            <a:ext cx="52303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decisions — not just straight lines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382512" y="2258568"/>
            <a:ext cx="52303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Processes where every case is a little different. Rules-based automation keeps hitting a ceiling.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382512" y="2880360"/>
            <a:ext cx="5230368" cy="59436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382512" y="2880360"/>
            <a:ext cx="45720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492240" y="292608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2FE"/>
              </a:buClr>
              <a:buSzPts val="1000"/>
              <a:buFont typeface="Arial"/>
              <a:buNone/>
            </a:pPr>
            <a:r>
              <a:rPr lang="en-US" sz="1100" i="1">
                <a:solidFill>
                  <a:srgbClr val="0F62FE"/>
                </a:solidFill>
                <a:latin typeface="Arial"/>
                <a:ea typeface="Arial"/>
                <a:cs typeface="Arial"/>
                <a:sym typeface="Arial"/>
              </a:rPr>
              <a:t>"Which of your processes break down when the data doesn't fit the expected format?"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65760" y="3886200"/>
            <a:ext cx="557784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365760" y="3886200"/>
            <a:ext cx="5577840" cy="54864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30352" y="4050792"/>
            <a:ext cx="384048" cy="384048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30352" y="40507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4128" y="40507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7"/>
          <p:cNvSpPr/>
          <p:nvPr/>
        </p:nvSpPr>
        <p:spPr>
          <a:xfrm>
            <a:off x="530352" y="4507992"/>
            <a:ext cx="52303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Humans are the bottleneck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30352" y="4910328"/>
            <a:ext cx="52303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SLAs slip when volume spikes. Manual reviews create queues. People are reviewing things they shouldn't need 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30352" y="5532120"/>
            <a:ext cx="5230368" cy="59436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30352" y="5532120"/>
            <a:ext cx="45720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40080" y="557784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2FE"/>
              </a:buClr>
              <a:buSzPts val="1000"/>
              <a:buFont typeface="Arial"/>
              <a:buNone/>
            </a:pPr>
            <a:r>
              <a:rPr lang="en-US" sz="1100" i="1">
                <a:solidFill>
                  <a:srgbClr val="0F62FE"/>
                </a:solidFill>
                <a:latin typeface="Arial"/>
                <a:ea typeface="Arial"/>
                <a:cs typeface="Arial"/>
                <a:sym typeface="Arial"/>
              </a:rPr>
              <a:t>"Where are your teams spending the most manual effort that feels like it should be automated?"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217920" y="3886200"/>
            <a:ext cx="557784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217920" y="3886200"/>
            <a:ext cx="5577840" cy="54864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382512" y="4050792"/>
            <a:ext cx="384048" cy="384048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382512" y="40507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76288" y="40507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7"/>
          <p:cNvSpPr/>
          <p:nvPr/>
        </p:nvSpPr>
        <p:spPr>
          <a:xfrm>
            <a:off x="6382512" y="4507992"/>
            <a:ext cx="52303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Long-running processes that must keep context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382512" y="4910328"/>
            <a:ext cx="52303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Processes that span days, weeks, or months — and need to survive system restarts, failures, and handoffs.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382512" y="5532120"/>
            <a:ext cx="5230368" cy="59436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382512" y="5532120"/>
            <a:ext cx="45720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492240" y="557784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2FE"/>
              </a:buClr>
              <a:buSzPts val="1000"/>
              <a:buFont typeface="Arial"/>
              <a:buNone/>
            </a:pPr>
            <a:r>
              <a:rPr lang="en-US" sz="1100" i="1">
                <a:solidFill>
                  <a:srgbClr val="0F62FE"/>
                </a:solidFill>
                <a:latin typeface="Arial"/>
                <a:ea typeface="Arial"/>
                <a:cs typeface="Arial"/>
                <a:sym typeface="Arial"/>
              </a:rPr>
              <a:t>"What's your longest-running customer journey — and what happens when something breaks in the middle?"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59852" y="173725"/>
            <a:ext cx="2618436" cy="38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57200" y="1371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OBJECTION HANDLING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 the 5 most common objections with confidence.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65760" y="1161288"/>
            <a:ext cx="3931920" cy="9144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365760" y="1161288"/>
            <a:ext cx="54864" cy="914400"/>
          </a:xfrm>
          <a:prstGeom prst="rect">
            <a:avLst/>
          </a:prstGeom>
          <a:solidFill>
            <a:srgbClr val="88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30352" y="1252728"/>
            <a:ext cx="3611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lang="en-US" sz="1150" b="1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1350" b="1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We already have RPA."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370832" y="1417320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754880" y="1161288"/>
            <a:ext cx="7086600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754880" y="1161288"/>
            <a:ext cx="54864" cy="9144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919472" y="1207008"/>
            <a:ext cx="67482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RPA automates individual tasks. Camunda orchestrates the full outcome — including your RPA bots as participants.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919472" y="1691640"/>
            <a:ext cx="6583680" cy="274320"/>
          </a:xfrm>
          <a:prstGeom prst="rect">
            <a:avLst/>
          </a:prstGeom>
          <a:solidFill>
            <a:srgbClr val="FC5D0D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983480" y="1709928"/>
            <a:ext cx="6492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150" b="1" i="1">
                <a:solidFill>
                  <a:srgbClr val="FC5D0D"/>
                </a:solidFill>
              </a:rPr>
              <a:t>"RPA automates tasks.</a:t>
            </a:r>
            <a:r>
              <a:rPr lang="en-US" sz="1150" b="1" i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 Camunda orchestrates outcomes."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65760" y="2240280"/>
            <a:ext cx="3931920" cy="9144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65760" y="2240280"/>
            <a:ext cx="54864" cy="914400"/>
          </a:xfrm>
          <a:prstGeom prst="rect">
            <a:avLst/>
          </a:prstGeom>
          <a:solidFill>
            <a:srgbClr val="88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530352" y="2331720"/>
            <a:ext cx="3611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lang="en-US" sz="1150" b="1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1350" b="1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We're using Azure / AWS / GCP for AI."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370832" y="2496312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754880" y="2240280"/>
            <a:ext cx="7086600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754880" y="2240280"/>
            <a:ext cx="54864" cy="9144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919472" y="2286000"/>
            <a:ext cx="67482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Hyperscalers are great at infrastructure. Camunda is agent-agnostic, BPMN-based, and can govern any AI from any provider.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919472" y="2770632"/>
            <a:ext cx="6583680" cy="274320"/>
          </a:xfrm>
          <a:prstGeom prst="rect">
            <a:avLst/>
          </a:prstGeom>
          <a:solidFill>
            <a:srgbClr val="FC5D0D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983480" y="2788920"/>
            <a:ext cx="6492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950" b="1" i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1150" b="1" i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Hyperscalers build great infrastructure. Camunda governs great processes. Different jobs."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65760" y="3319272"/>
            <a:ext cx="3931920" cy="9144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65760" y="3319272"/>
            <a:ext cx="54864" cy="914400"/>
          </a:xfrm>
          <a:prstGeom prst="rect">
            <a:avLst/>
          </a:prstGeom>
          <a:solidFill>
            <a:srgbClr val="88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30352" y="3410712"/>
            <a:ext cx="3611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lang="en-US" sz="1150" b="1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1350" b="1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It's too early — we want to wait and see."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370832" y="3575304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4754880" y="3319272"/>
            <a:ext cx="7086600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754880" y="3319272"/>
            <a:ext cx="54864" cy="9144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919472" y="3364992"/>
            <a:ext cx="67482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71% of enterprises are already using agents. Your competitors won't wait. Start with one process, prove it, scale.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919472" y="3849624"/>
            <a:ext cx="6583680" cy="274320"/>
          </a:xfrm>
          <a:prstGeom prst="rect">
            <a:avLst/>
          </a:prstGeom>
          <a:solidFill>
            <a:srgbClr val="FC5D0D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983480" y="3867912"/>
            <a:ext cx="6492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150" b="1" i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"The risk of doing nothing is that your competitors won't wait."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65760" y="4398264"/>
            <a:ext cx="3931920" cy="9144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365760" y="4398264"/>
            <a:ext cx="54864" cy="914400"/>
          </a:xfrm>
          <a:prstGeom prst="rect">
            <a:avLst/>
          </a:prstGeom>
          <a:solidFill>
            <a:srgbClr val="88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30352" y="4489704"/>
            <a:ext cx="3611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lang="en-US" sz="1150" b="1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1350" b="1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We already have a BPM / workflow tool."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370832" y="4654296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754880" y="4398264"/>
            <a:ext cx="7086600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754880" y="4398264"/>
            <a:ext cx="54864" cy="9144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919472" y="4443984"/>
            <a:ext cx="67482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Legacy BPM wasn't built for AI agents as first-class citizens or EU AI Act compliance. Ask: can it embed guardrails between an agent's decision and its action?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919472" y="4928616"/>
            <a:ext cx="6583680" cy="274320"/>
          </a:xfrm>
          <a:prstGeom prst="rect">
            <a:avLst/>
          </a:prstGeom>
          <a:solidFill>
            <a:srgbClr val="FC5D0D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983480" y="4946904"/>
            <a:ext cx="6492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150" b="1" i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"Legacy BPM handles forms. Camunda orchestrates agents, people, and systems together."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65760" y="5477256"/>
            <a:ext cx="3931920" cy="9144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65760" y="5477256"/>
            <a:ext cx="54864" cy="914400"/>
          </a:xfrm>
          <a:prstGeom prst="rect">
            <a:avLst/>
          </a:prstGeom>
          <a:solidFill>
            <a:srgbClr val="88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30352" y="5568696"/>
            <a:ext cx="3611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lang="en-US" sz="1150" b="1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1350" b="1" i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We're already using LangChain / OpenAI."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4370832" y="5733288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4754880" y="5477256"/>
            <a:ext cx="7086600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4754880" y="5477256"/>
            <a:ext cx="54864" cy="9144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4919472" y="5522976"/>
            <a:ext cx="67482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That's complementary. LangChain builds agents. Camunda is the layer that governs how your agents operate inside real business processes.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919472" y="6007608"/>
            <a:ext cx="6583680" cy="274320"/>
          </a:xfrm>
          <a:prstGeom prst="rect">
            <a:avLst/>
          </a:prstGeom>
          <a:solidFill>
            <a:srgbClr val="FC5D0D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4983480" y="6025896"/>
            <a:ext cx="6492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150" b="1" i="1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"LangChain builds agents. Camunda makes them enterprise-safe."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3560" y="96011"/>
            <a:ext cx="2618432" cy="38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1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20" name="t20"/>
          <p:cNvSpPr/>
          <p:nvPr/>
        </p:nvSpPr>
        <p:spPr>
          <a:xfrm>
            <a:off x="260000" y="180000"/>
            <a:ext cx="60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PROOF POINTS</a:t>
            </a:r>
          </a:p>
        </p:txBody>
      </p:sp>
      <p:sp>
        <p:nvSpPr>
          <p:cNvPr id="21" name="t21"/>
          <p:cNvSpPr/>
          <p:nvPr/>
        </p:nvSpPr>
        <p:spPr>
          <a:xfrm>
            <a:off x="260000" y="460000"/>
            <a:ext cx="115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Real clients. Real challenge. Real results.</a:t>
            </a:r>
          </a:p>
        </p:txBody>
      </p:sp>
      <p:sp>
        <p:nvSpPr>
          <p:cNvPr id="22" name="t22"/>
          <p:cNvSpPr/>
          <p:nvPr/>
        </p:nvSpPr>
        <p:spPr>
          <a:xfrm>
            <a:off x="260000" y="868723"/>
            <a:ext cx="115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These are production deployments — not pilots. Each story: what broke, how Camunda fixed it, what changed.</a:t>
            </a:r>
          </a:p>
        </p:txBody>
      </p:sp>
      <p:sp>
        <p:nvSpPr>
          <p:cNvPr id="31" name="r31"/>
          <p:cNvSpPr/>
          <p:nvPr/>
        </p:nvSpPr>
        <p:spPr>
          <a:xfrm>
            <a:off x="260000" y="1150000"/>
            <a:ext cx="3644488" cy="6999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32" name="t32"/>
          <p:cNvSpPr/>
          <p:nvPr/>
        </p:nvSpPr>
        <p:spPr>
          <a:xfrm>
            <a:off x="360000" y="1225000"/>
            <a:ext cx="4370000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BANKING • PRODUCTION</a:t>
            </a:r>
          </a:p>
        </p:txBody>
      </p:sp>
      <p:sp>
        <p:nvSpPr>
          <p:cNvPr id="33" name="t33"/>
          <p:cNvSpPr/>
          <p:nvPr/>
        </p:nvSpPr>
        <p:spPr>
          <a:xfrm>
            <a:off x="360000" y="1370000"/>
            <a:ext cx="4370000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Halkbank Türkiye</a:t>
            </a:r>
          </a:p>
        </p:txBody>
      </p:sp>
      <p:sp>
        <p:nvSpPr>
          <p:cNvPr id="34" name="t34"/>
          <p:cNvSpPr/>
          <p:nvPr/>
        </p:nvSpPr>
        <p:spPr>
          <a:xfrm>
            <a:off x="360000" y="1680000"/>
            <a:ext cx="437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Banking · Turkey · 6.5M customers</a:t>
            </a:r>
          </a:p>
        </p:txBody>
      </p:sp>
      <p:sp>
        <p:nvSpPr>
          <p:cNvPr id="35" name="t35"/>
          <p:cNvSpPr/>
          <p:nvPr/>
        </p:nvSpPr>
        <p:spPr>
          <a:xfrm>
            <a:off x="360000" y="1880000"/>
            <a:ext cx="437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</a:p>
        </p:txBody>
      </p:sp>
      <p:sp>
        <p:nvSpPr>
          <p:cNvPr id="36" name="t36"/>
          <p:cNvSpPr/>
          <p:nvPr/>
        </p:nvSpPr>
        <p:spPr>
          <a:xfrm>
            <a:off x="360000" y="2080000"/>
            <a:ext cx="3334176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Money transfers were slow, error-prone, and manual — peak-time bottlenecks created compliance risk.</a:t>
            </a:r>
          </a:p>
        </p:txBody>
      </p:sp>
      <p:sp>
        <p:nvSpPr>
          <p:cNvPr id="37" name="t37"/>
          <p:cNvSpPr/>
          <p:nvPr/>
        </p:nvSpPr>
        <p:spPr>
          <a:xfrm>
            <a:off x="360000" y="2470000"/>
            <a:ext cx="437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</a:p>
        </p:txBody>
      </p:sp>
      <p:sp>
        <p:nvSpPr>
          <p:cNvPr id="38" name="t38"/>
          <p:cNvSpPr/>
          <p:nvPr/>
        </p:nvSpPr>
        <p:spPr>
          <a:xfrm>
            <a:off x="360000" y="2670000"/>
            <a:ext cx="3801666" cy="41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Camunda runs the money transfer process end-to-end. At the right step, it automatically reads the payment data using AI, verifies it, and sends it straight into the bank's systems — no manual entry, no handoffs, no waiting</a:t>
            </a:r>
          </a:p>
        </p:txBody>
      </p:sp>
      <p:sp>
        <p:nvSpPr>
          <p:cNvPr id="39" name="r39"/>
          <p:cNvSpPr/>
          <p:nvPr/>
        </p:nvSpPr>
        <p:spPr>
          <a:xfrm>
            <a:off x="259998" y="3070000"/>
            <a:ext cx="975336" cy="570000"/>
          </a:xfrm>
          <a:prstGeom prst="rect">
            <a:avLst/>
          </a:prstGeom>
          <a:solidFill>
            <a:srgbClr val="FC5D0D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40" name="t40"/>
          <p:cNvSpPr/>
          <p:nvPr/>
        </p:nvSpPr>
        <p:spPr>
          <a:xfrm>
            <a:off x="56056" y="3092080"/>
            <a:ext cx="1336666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600%</a:t>
            </a:r>
          </a:p>
        </p:txBody>
      </p:sp>
      <p:sp>
        <p:nvSpPr>
          <p:cNvPr id="41" name="t41"/>
          <p:cNvSpPr/>
          <p:nvPr/>
        </p:nvSpPr>
        <p:spPr>
          <a:xfrm>
            <a:off x="26056" y="3415008"/>
            <a:ext cx="1396666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faster processing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(54s→09s)</a:t>
            </a:r>
          </a:p>
        </p:txBody>
      </p:sp>
      <p:sp>
        <p:nvSpPr>
          <p:cNvPr id="42" name="r42"/>
          <p:cNvSpPr/>
          <p:nvPr/>
        </p:nvSpPr>
        <p:spPr>
          <a:xfrm>
            <a:off x="1392722" y="3070000"/>
            <a:ext cx="1064184" cy="570000"/>
          </a:xfrm>
          <a:prstGeom prst="rect">
            <a:avLst/>
          </a:prstGeom>
          <a:solidFill>
            <a:srgbClr val="FC5D0D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43" name="t43"/>
          <p:cNvSpPr/>
          <p:nvPr/>
        </p:nvSpPr>
        <p:spPr>
          <a:xfrm>
            <a:off x="1623125" y="3079480"/>
            <a:ext cx="664273" cy="24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44" name="t44"/>
          <p:cNvSpPr/>
          <p:nvPr/>
        </p:nvSpPr>
        <p:spPr>
          <a:xfrm>
            <a:off x="1506462" y="3458593"/>
            <a:ext cx="865204" cy="15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fewer errors</a:t>
            </a:r>
          </a:p>
        </p:txBody>
      </p:sp>
      <p:sp>
        <p:nvSpPr>
          <p:cNvPr id="45" name="r45"/>
          <p:cNvSpPr/>
          <p:nvPr/>
        </p:nvSpPr>
        <p:spPr>
          <a:xfrm>
            <a:off x="2629992" y="3070000"/>
            <a:ext cx="1064184" cy="570000"/>
          </a:xfrm>
          <a:prstGeom prst="rect">
            <a:avLst/>
          </a:prstGeom>
          <a:solidFill>
            <a:srgbClr val="FC5D0D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46" name="t46"/>
          <p:cNvSpPr/>
          <p:nvPr/>
        </p:nvSpPr>
        <p:spPr>
          <a:xfrm>
            <a:off x="2657424" y="3080048"/>
            <a:ext cx="1049488" cy="289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32 FTE</a:t>
            </a:r>
          </a:p>
        </p:txBody>
      </p:sp>
      <p:sp>
        <p:nvSpPr>
          <p:cNvPr id="47" name="t47"/>
          <p:cNvSpPr/>
          <p:nvPr/>
        </p:nvSpPr>
        <p:spPr>
          <a:xfrm>
            <a:off x="2629288" y="3405345"/>
            <a:ext cx="1131907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redeployed to strategic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</a:p>
        </p:txBody>
      </p:sp>
      <p:sp>
        <p:nvSpPr>
          <p:cNvPr id="60" name="r60"/>
          <p:cNvSpPr/>
          <p:nvPr/>
        </p:nvSpPr>
        <p:spPr>
          <a:xfrm>
            <a:off x="4183740" y="1177500"/>
            <a:ext cx="3622414" cy="2820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61" name="r61"/>
          <p:cNvSpPr/>
          <p:nvPr/>
        </p:nvSpPr>
        <p:spPr>
          <a:xfrm>
            <a:off x="4161666" y="1159648"/>
            <a:ext cx="3427514" cy="69992"/>
          </a:xfrm>
          <a:prstGeom prst="rect">
            <a:avLst/>
          </a:prstGeom>
          <a:solidFill>
            <a:srgbClr val="2EAA6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62" name="t62"/>
          <p:cNvSpPr/>
          <p:nvPr/>
        </p:nvSpPr>
        <p:spPr>
          <a:xfrm>
            <a:off x="4213742" y="1259500"/>
            <a:ext cx="2629180" cy="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2EAA6A"/>
                </a:solidFill>
                <a:latin typeface="Arial"/>
                <a:ea typeface="Arial"/>
                <a:cs typeface="Arial"/>
                <a:sym typeface="Arial"/>
              </a:rPr>
              <a:t>INSURANCE • PRODUCTION</a:t>
            </a:r>
          </a:p>
        </p:txBody>
      </p:sp>
      <p:sp>
        <p:nvSpPr>
          <p:cNvPr id="63" name="t63"/>
          <p:cNvSpPr/>
          <p:nvPr/>
        </p:nvSpPr>
        <p:spPr>
          <a:xfrm>
            <a:off x="4218743" y="1370000"/>
            <a:ext cx="2112922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Legal &amp; General</a:t>
            </a:r>
          </a:p>
        </p:txBody>
      </p:sp>
      <p:sp>
        <p:nvSpPr>
          <p:cNvPr id="64" name="t64"/>
          <p:cNvSpPr/>
          <p:nvPr/>
        </p:nvSpPr>
        <p:spPr>
          <a:xfrm>
            <a:off x="4245534" y="1680890"/>
            <a:ext cx="2254616" cy="1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Insurance · UK · 6M pension customers</a:t>
            </a:r>
          </a:p>
        </p:txBody>
      </p:sp>
      <p:sp>
        <p:nvSpPr>
          <p:cNvPr id="65" name="t65"/>
          <p:cNvSpPr/>
          <p:nvPr/>
        </p:nvSpPr>
        <p:spPr>
          <a:xfrm>
            <a:off x="4201456" y="1880000"/>
            <a:ext cx="1962695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</a:p>
        </p:txBody>
      </p:sp>
      <p:sp>
        <p:nvSpPr>
          <p:cNvPr id="66" name="t66"/>
          <p:cNvSpPr/>
          <p:nvPr/>
        </p:nvSpPr>
        <p:spPr>
          <a:xfrm>
            <a:off x="4227066" y="2060350"/>
            <a:ext cx="3788305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1,100 agents serving 6M pension customers — complex multi-system processes causing SLA misses and high training costs.</a:t>
            </a:r>
          </a:p>
        </p:txBody>
      </p:sp>
      <p:sp>
        <p:nvSpPr>
          <p:cNvPr id="67" name="t67"/>
          <p:cNvSpPr/>
          <p:nvPr/>
        </p:nvSpPr>
        <p:spPr>
          <a:xfrm>
            <a:off x="4183740" y="2460000"/>
            <a:ext cx="2346056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2EAA6A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</a:p>
        </p:txBody>
      </p:sp>
      <p:sp>
        <p:nvSpPr>
          <p:cNvPr id="68" name="t68"/>
          <p:cNvSpPr/>
          <p:nvPr/>
        </p:nvSpPr>
        <p:spPr>
          <a:xfrm>
            <a:off x="4191666" y="2632554"/>
            <a:ext cx="3788305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Camunda orchestrates end-to-end customer servicing across all channels with a single, governed process model.</a:t>
            </a:r>
          </a:p>
        </p:txBody>
      </p:sp>
      <p:sp>
        <p:nvSpPr>
          <p:cNvPr id="69" name="r69"/>
          <p:cNvSpPr/>
          <p:nvPr/>
        </p:nvSpPr>
        <p:spPr>
          <a:xfrm>
            <a:off x="4226314" y="3060000"/>
            <a:ext cx="964400" cy="570000"/>
          </a:xfrm>
          <a:prstGeom prst="rect">
            <a:avLst/>
          </a:prstGeom>
          <a:solidFill>
            <a:srgbClr val="2EAA6A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70" name="t70"/>
          <p:cNvSpPr/>
          <p:nvPr/>
        </p:nvSpPr>
        <p:spPr>
          <a:xfrm>
            <a:off x="3932584" y="3057952"/>
            <a:ext cx="1336666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2EAA6A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71" name="t71"/>
          <p:cNvSpPr/>
          <p:nvPr/>
        </p:nvSpPr>
        <p:spPr>
          <a:xfrm>
            <a:off x="3974523" y="3360000"/>
            <a:ext cx="1396666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less handling time</a:t>
            </a:r>
          </a:p>
        </p:txBody>
      </p:sp>
      <p:sp>
        <p:nvSpPr>
          <p:cNvPr id="72" name="r72"/>
          <p:cNvSpPr/>
          <p:nvPr/>
        </p:nvSpPr>
        <p:spPr>
          <a:xfrm>
            <a:off x="5305716" y="3067500"/>
            <a:ext cx="1000830" cy="570000"/>
          </a:xfrm>
          <a:prstGeom prst="rect">
            <a:avLst/>
          </a:prstGeom>
          <a:solidFill>
            <a:srgbClr val="2EAA6A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73" name="t73"/>
          <p:cNvSpPr/>
          <p:nvPr/>
        </p:nvSpPr>
        <p:spPr>
          <a:xfrm>
            <a:off x="5101116" y="3093992"/>
            <a:ext cx="1336666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2EAA6A"/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74" name="t74"/>
          <p:cNvSpPr/>
          <p:nvPr/>
        </p:nvSpPr>
        <p:spPr>
          <a:xfrm>
            <a:off x="5265098" y="3363474"/>
            <a:ext cx="944764" cy="23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lower agent training cost</a:t>
            </a:r>
          </a:p>
        </p:txBody>
      </p:sp>
      <p:sp>
        <p:nvSpPr>
          <p:cNvPr id="75" name="r75"/>
          <p:cNvSpPr/>
          <p:nvPr/>
        </p:nvSpPr>
        <p:spPr>
          <a:xfrm>
            <a:off x="6411962" y="3060170"/>
            <a:ext cx="1105954" cy="570000"/>
          </a:xfrm>
          <a:prstGeom prst="rect">
            <a:avLst/>
          </a:prstGeom>
          <a:solidFill>
            <a:srgbClr val="2EAA6A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76" name="t76"/>
          <p:cNvSpPr/>
          <p:nvPr/>
        </p:nvSpPr>
        <p:spPr>
          <a:xfrm>
            <a:off x="6382177" y="3117946"/>
            <a:ext cx="1000830" cy="227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2EAA6A"/>
                </a:solidFill>
                <a:latin typeface="Arial"/>
                <a:ea typeface="Arial"/>
                <a:cs typeface="Arial"/>
                <a:sym typeface="Arial"/>
              </a:rPr>
              <a:t>~3M</a:t>
            </a:r>
          </a:p>
        </p:txBody>
      </p:sp>
      <p:sp>
        <p:nvSpPr>
          <p:cNvPr id="77" name="t77"/>
          <p:cNvSpPr/>
          <p:nvPr/>
        </p:nvSpPr>
        <p:spPr>
          <a:xfrm>
            <a:off x="6537913" y="3380000"/>
            <a:ext cx="854052" cy="2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requests processed per year</a:t>
            </a:r>
          </a:p>
        </p:txBody>
      </p:sp>
      <p:sp>
        <p:nvSpPr>
          <p:cNvPr id="90" name="r90"/>
          <p:cNvSpPr/>
          <p:nvPr/>
        </p:nvSpPr>
        <p:spPr>
          <a:xfrm>
            <a:off x="8039971" y="1111436"/>
            <a:ext cx="3915437" cy="2820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91" name="r91"/>
          <p:cNvSpPr/>
          <p:nvPr/>
        </p:nvSpPr>
        <p:spPr>
          <a:xfrm>
            <a:off x="8034971" y="1176367"/>
            <a:ext cx="3897029" cy="53273"/>
          </a:xfrm>
          <a:prstGeom prst="rect">
            <a:avLst/>
          </a:prstGeom>
          <a:solidFill>
            <a:srgbClr val="7B5F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92" name="t92"/>
          <p:cNvSpPr/>
          <p:nvPr/>
        </p:nvSpPr>
        <p:spPr>
          <a:xfrm>
            <a:off x="8095833" y="1270000"/>
            <a:ext cx="4370000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7B5FCC"/>
                </a:solidFill>
                <a:latin typeface="Arial"/>
                <a:ea typeface="Arial"/>
                <a:cs typeface="Arial"/>
                <a:sym typeface="Arial"/>
              </a:rPr>
              <a:t>HEALTHCARE • PRODUCTION</a:t>
            </a:r>
          </a:p>
        </p:txBody>
      </p:sp>
      <p:sp>
        <p:nvSpPr>
          <p:cNvPr id="93" name="t93"/>
          <p:cNvSpPr/>
          <p:nvPr/>
        </p:nvSpPr>
        <p:spPr>
          <a:xfrm>
            <a:off x="8095833" y="1370000"/>
            <a:ext cx="2069894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Wellpointe</a:t>
            </a:r>
          </a:p>
        </p:txBody>
      </p:sp>
      <p:sp>
        <p:nvSpPr>
          <p:cNvPr id="94" name="t94"/>
          <p:cNvSpPr/>
          <p:nvPr/>
        </p:nvSpPr>
        <p:spPr>
          <a:xfrm>
            <a:off x="8095833" y="1680000"/>
            <a:ext cx="1943152" cy="221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Healthcare · Assisted Living · USA</a:t>
            </a:r>
          </a:p>
        </p:txBody>
      </p:sp>
      <p:sp>
        <p:nvSpPr>
          <p:cNvPr id="95" name="t95"/>
          <p:cNvSpPr/>
          <p:nvPr/>
        </p:nvSpPr>
        <p:spPr>
          <a:xfrm>
            <a:off x="8088334" y="1871578"/>
            <a:ext cx="1531666" cy="151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</a:p>
        </p:txBody>
      </p:sp>
      <p:sp>
        <p:nvSpPr>
          <p:cNvPr id="96" name="t96"/>
          <p:cNvSpPr/>
          <p:nvPr/>
        </p:nvSpPr>
        <p:spPr>
          <a:xfrm>
            <a:off x="8114634" y="2079810"/>
            <a:ext cx="437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Manual medication orders consumed 3+ hours/day for 160 residents.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Growing to 1,000+ without automation was impossible.</a:t>
            </a:r>
          </a:p>
        </p:txBody>
      </p:sp>
      <p:sp>
        <p:nvSpPr>
          <p:cNvPr id="97" name="t97"/>
          <p:cNvSpPr/>
          <p:nvPr/>
        </p:nvSpPr>
        <p:spPr>
          <a:xfrm>
            <a:off x="8057310" y="2471132"/>
            <a:ext cx="3183875" cy="27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7B5FCC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</a:p>
        </p:txBody>
      </p:sp>
      <p:sp>
        <p:nvSpPr>
          <p:cNvPr id="98" name="t98"/>
          <p:cNvSpPr/>
          <p:nvPr/>
        </p:nvSpPr>
        <p:spPr>
          <a:xfrm>
            <a:off x="8085406" y="2624170"/>
            <a:ext cx="3739896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AI-powered agentic orchestration using AWS Bedrock + Claude Sonnet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automates order management with exception handling.</a:t>
            </a:r>
          </a:p>
        </p:txBody>
      </p:sp>
      <p:sp>
        <p:nvSpPr>
          <p:cNvPr id="99" name="r99"/>
          <p:cNvSpPr/>
          <p:nvPr/>
        </p:nvSpPr>
        <p:spPr>
          <a:xfrm>
            <a:off x="8032617" y="3041594"/>
            <a:ext cx="982688" cy="570000"/>
          </a:xfrm>
          <a:prstGeom prst="rect">
            <a:avLst/>
          </a:prstGeom>
          <a:solidFill>
            <a:srgbClr val="7B5FCC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00" name="t100"/>
          <p:cNvSpPr/>
          <p:nvPr/>
        </p:nvSpPr>
        <p:spPr>
          <a:xfrm>
            <a:off x="7911570" y="3065000"/>
            <a:ext cx="1336666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7B5FCC"/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101" name="t101"/>
          <p:cNvSpPr/>
          <p:nvPr/>
        </p:nvSpPr>
        <p:spPr>
          <a:xfrm>
            <a:off x="8129943" y="3361250"/>
            <a:ext cx="852029" cy="2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of complex orders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automated</a:t>
            </a:r>
          </a:p>
        </p:txBody>
      </p:sp>
      <p:sp>
        <p:nvSpPr>
          <p:cNvPr id="102" name="r102"/>
          <p:cNvSpPr/>
          <p:nvPr/>
        </p:nvSpPr>
        <p:spPr>
          <a:xfrm>
            <a:off x="9248236" y="3050580"/>
            <a:ext cx="982688" cy="570000"/>
          </a:xfrm>
          <a:prstGeom prst="rect">
            <a:avLst/>
          </a:prstGeom>
          <a:solidFill>
            <a:srgbClr val="7B5FCC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03" name="t103"/>
          <p:cNvSpPr/>
          <p:nvPr/>
        </p:nvSpPr>
        <p:spPr>
          <a:xfrm>
            <a:off x="9290764" y="3019440"/>
            <a:ext cx="923742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7B5FCC"/>
                </a:solidFill>
                <a:latin typeface="Arial"/>
                <a:ea typeface="Arial"/>
                <a:cs typeface="Arial"/>
                <a:sym typeface="Arial"/>
              </a:rPr>
              <a:t>15 min</a:t>
            </a:r>
          </a:p>
        </p:txBody>
      </p:sp>
      <p:sp>
        <p:nvSpPr>
          <p:cNvPr id="104" name="t104"/>
          <p:cNvSpPr/>
          <p:nvPr/>
        </p:nvSpPr>
        <p:spPr>
          <a:xfrm>
            <a:off x="9334535" y="3406375"/>
            <a:ext cx="879971" cy="24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saved per order</a:t>
            </a:r>
          </a:p>
        </p:txBody>
      </p:sp>
      <p:sp>
        <p:nvSpPr>
          <p:cNvPr id="105" name="r105"/>
          <p:cNvSpPr/>
          <p:nvPr/>
        </p:nvSpPr>
        <p:spPr>
          <a:xfrm>
            <a:off x="10390334" y="3052952"/>
            <a:ext cx="1441666" cy="570000"/>
          </a:xfrm>
          <a:prstGeom prst="rect">
            <a:avLst/>
          </a:prstGeom>
          <a:solidFill>
            <a:srgbClr val="7B5FCC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06" name="t106"/>
          <p:cNvSpPr/>
          <p:nvPr/>
        </p:nvSpPr>
        <p:spPr>
          <a:xfrm>
            <a:off x="10316732" y="3055579"/>
            <a:ext cx="1508569" cy="40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7B5FCC"/>
                </a:solidFill>
                <a:latin typeface="Arial"/>
                <a:ea typeface="Arial"/>
                <a:cs typeface="Arial"/>
                <a:sym typeface="Arial"/>
              </a:rPr>
              <a:t>50%→15%</a:t>
            </a:r>
          </a:p>
        </p:txBody>
      </p:sp>
      <p:sp>
        <p:nvSpPr>
          <p:cNvPr id="107" name="t107"/>
          <p:cNvSpPr/>
          <p:nvPr/>
        </p:nvSpPr>
        <p:spPr>
          <a:xfrm>
            <a:off x="10318334" y="3396720"/>
            <a:ext cx="1396666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manual intervention rate</a:t>
            </a:r>
          </a:p>
        </p:txBody>
      </p:sp>
      <p:sp>
        <p:nvSpPr>
          <p:cNvPr id="120" name="r120"/>
          <p:cNvSpPr/>
          <p:nvPr/>
        </p:nvSpPr>
        <p:spPr>
          <a:xfrm>
            <a:off x="917744" y="4105000"/>
            <a:ext cx="4470000" cy="2520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21" name="r121"/>
          <p:cNvSpPr/>
          <p:nvPr/>
        </p:nvSpPr>
        <p:spPr>
          <a:xfrm>
            <a:off x="917744" y="4004727"/>
            <a:ext cx="4470000" cy="55000"/>
          </a:xfrm>
          <a:prstGeom prst="rect">
            <a:avLst/>
          </a:prstGeom>
          <a:solidFill>
            <a:srgbClr val="4A7FD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22" name="t122"/>
          <p:cNvSpPr/>
          <p:nvPr/>
        </p:nvSpPr>
        <p:spPr>
          <a:xfrm>
            <a:off x="935716" y="4132320"/>
            <a:ext cx="4370000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4A7FD4"/>
                </a:solidFill>
                <a:latin typeface="Arial"/>
                <a:ea typeface="Arial"/>
                <a:cs typeface="Arial"/>
                <a:sym typeface="Arial"/>
              </a:rPr>
              <a:t>TELECOM • PRODUCTION</a:t>
            </a:r>
          </a:p>
        </p:txBody>
      </p:sp>
      <p:sp>
        <p:nvSpPr>
          <p:cNvPr id="123" name="t123"/>
          <p:cNvSpPr/>
          <p:nvPr/>
        </p:nvSpPr>
        <p:spPr>
          <a:xfrm>
            <a:off x="935716" y="4272227"/>
            <a:ext cx="4370000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R-KOM</a:t>
            </a:r>
          </a:p>
        </p:txBody>
      </p:sp>
      <p:sp>
        <p:nvSpPr>
          <p:cNvPr id="124" name="t124"/>
          <p:cNvSpPr/>
          <p:nvPr/>
        </p:nvSpPr>
        <p:spPr>
          <a:xfrm>
            <a:off x="917744" y="4552227"/>
            <a:ext cx="437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Telecommunications · Fiber Broadband · Germany</a:t>
            </a:r>
          </a:p>
        </p:txBody>
      </p:sp>
      <p:sp>
        <p:nvSpPr>
          <p:cNvPr id="125" name="t125"/>
          <p:cNvSpPr/>
          <p:nvPr/>
        </p:nvSpPr>
        <p:spPr>
          <a:xfrm>
            <a:off x="925771" y="4770771"/>
            <a:ext cx="437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</a:p>
        </p:txBody>
      </p:sp>
      <p:sp>
        <p:nvSpPr>
          <p:cNvPr id="126" name="t126"/>
          <p:cNvSpPr/>
          <p:nvPr/>
        </p:nvSpPr>
        <p:spPr>
          <a:xfrm>
            <a:off x="941220" y="4998079"/>
            <a:ext cx="437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Manual ticket assignment averaged 8-hour response times. Weekend outages meant customers waited days — risking regulatory penalties.</a:t>
            </a:r>
          </a:p>
        </p:txBody>
      </p:sp>
      <p:sp>
        <p:nvSpPr>
          <p:cNvPr id="127" name="t127"/>
          <p:cNvSpPr/>
          <p:nvPr/>
        </p:nvSpPr>
        <p:spPr>
          <a:xfrm>
            <a:off x="931213" y="5359792"/>
            <a:ext cx="437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4A7FD4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</a:p>
        </p:txBody>
      </p:sp>
      <p:sp>
        <p:nvSpPr>
          <p:cNvPr id="128" name="t128"/>
          <p:cNvSpPr/>
          <p:nvPr/>
        </p:nvSpPr>
        <p:spPr>
          <a:xfrm>
            <a:off x="931630" y="5594241"/>
            <a:ext cx="437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AI agents autonomously diagnose and resolve support tickets via Camunda’s ad-hoc subprocess. Engineers handle complex cases.</a:t>
            </a:r>
          </a:p>
        </p:txBody>
      </p:sp>
      <p:sp>
        <p:nvSpPr>
          <p:cNvPr id="129" name="r129"/>
          <p:cNvSpPr/>
          <p:nvPr/>
        </p:nvSpPr>
        <p:spPr>
          <a:xfrm>
            <a:off x="947744" y="6010813"/>
            <a:ext cx="1073080" cy="570000"/>
          </a:xfrm>
          <a:prstGeom prst="rect">
            <a:avLst/>
          </a:prstGeom>
          <a:solidFill>
            <a:srgbClr val="4A7FD4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30" name="t130"/>
          <p:cNvSpPr/>
          <p:nvPr/>
        </p:nvSpPr>
        <p:spPr>
          <a:xfrm>
            <a:off x="976758" y="6029620"/>
            <a:ext cx="1336666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4A7FD4"/>
                </a:solidFill>
                <a:latin typeface="Arial"/>
                <a:ea typeface="Arial"/>
                <a:cs typeface="Arial"/>
                <a:sym typeface="Arial"/>
              </a:rPr>
              <a:t>8 hrs</a:t>
            </a:r>
          </a:p>
        </p:txBody>
      </p:sp>
      <p:sp>
        <p:nvSpPr>
          <p:cNvPr id="131" name="t131"/>
          <p:cNvSpPr/>
          <p:nvPr/>
        </p:nvSpPr>
        <p:spPr>
          <a:xfrm>
            <a:off x="990539" y="6367692"/>
            <a:ext cx="1030285" cy="213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average response — before</a:t>
            </a:r>
          </a:p>
        </p:txBody>
      </p:sp>
      <p:sp>
        <p:nvSpPr>
          <p:cNvPr id="132" name="r132"/>
          <p:cNvSpPr/>
          <p:nvPr/>
        </p:nvSpPr>
        <p:spPr>
          <a:xfrm>
            <a:off x="2258833" y="6028970"/>
            <a:ext cx="1030285" cy="561299"/>
          </a:xfrm>
          <a:prstGeom prst="rect">
            <a:avLst/>
          </a:prstGeom>
          <a:solidFill>
            <a:srgbClr val="4A7FD4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33" name="t133"/>
          <p:cNvSpPr/>
          <p:nvPr/>
        </p:nvSpPr>
        <p:spPr>
          <a:xfrm>
            <a:off x="2258833" y="6058737"/>
            <a:ext cx="1008666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4A7FD4"/>
                </a:solidFill>
                <a:latin typeface="Arial"/>
                <a:ea typeface="Arial"/>
                <a:cs typeface="Arial"/>
                <a:sym typeface="Arial"/>
              </a:rPr>
              <a:t>&lt;mins</a:t>
            </a:r>
          </a:p>
        </p:txBody>
      </p:sp>
      <p:sp>
        <p:nvSpPr>
          <p:cNvPr id="134" name="t134"/>
          <p:cNvSpPr/>
          <p:nvPr/>
        </p:nvSpPr>
        <p:spPr>
          <a:xfrm>
            <a:off x="2091051" y="6395000"/>
            <a:ext cx="1396666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response time — after</a:t>
            </a:r>
          </a:p>
        </p:txBody>
      </p:sp>
      <p:sp>
        <p:nvSpPr>
          <p:cNvPr id="150" name="r150"/>
          <p:cNvSpPr/>
          <p:nvPr/>
        </p:nvSpPr>
        <p:spPr>
          <a:xfrm>
            <a:off x="5695727" y="4085776"/>
            <a:ext cx="4470000" cy="25392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51" name="r151"/>
          <p:cNvSpPr/>
          <p:nvPr/>
        </p:nvSpPr>
        <p:spPr>
          <a:xfrm>
            <a:off x="5695727" y="4012500"/>
            <a:ext cx="4470000" cy="55000"/>
          </a:xfrm>
          <a:prstGeom prst="rect">
            <a:avLst/>
          </a:prstGeom>
          <a:solidFill>
            <a:srgbClr val="1A8F7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52" name="t152"/>
          <p:cNvSpPr/>
          <p:nvPr/>
        </p:nvSpPr>
        <p:spPr>
          <a:xfrm>
            <a:off x="5695727" y="4103346"/>
            <a:ext cx="4370000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A8F7A"/>
                </a:solidFill>
                <a:latin typeface="Arial"/>
                <a:ea typeface="Arial"/>
                <a:cs typeface="Arial"/>
                <a:sym typeface="Arial"/>
              </a:rPr>
              <a:t>LEASING • PRODUCTION</a:t>
            </a:r>
          </a:p>
        </p:txBody>
      </p:sp>
      <p:sp>
        <p:nvSpPr>
          <p:cNvPr id="153" name="t153"/>
          <p:cNvSpPr/>
          <p:nvPr/>
        </p:nvSpPr>
        <p:spPr>
          <a:xfrm>
            <a:off x="5695727" y="4279094"/>
            <a:ext cx="4370000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SüdLeasing</a:t>
            </a:r>
          </a:p>
        </p:txBody>
      </p:sp>
      <p:sp>
        <p:nvSpPr>
          <p:cNvPr id="154" name="t154"/>
          <p:cNvSpPr/>
          <p:nvPr/>
        </p:nvSpPr>
        <p:spPr>
          <a:xfrm>
            <a:off x="5737480" y="4571889"/>
            <a:ext cx="437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Leasing &amp; Asset Finance · Germany</a:t>
            </a:r>
          </a:p>
        </p:txBody>
      </p:sp>
      <p:sp>
        <p:nvSpPr>
          <p:cNvPr id="155" name="t155"/>
          <p:cNvSpPr/>
          <p:nvPr/>
        </p:nvSpPr>
        <p:spPr>
          <a:xfrm>
            <a:off x="5745727" y="4770771"/>
            <a:ext cx="437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</a:p>
        </p:txBody>
      </p:sp>
      <p:sp>
        <p:nvSpPr>
          <p:cNvPr id="156" name="t156"/>
          <p:cNvSpPr/>
          <p:nvPr/>
        </p:nvSpPr>
        <p:spPr>
          <a:xfrm>
            <a:off x="5733404" y="4951745"/>
            <a:ext cx="437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Manual document collection for onboarding was riddled with scanning errors, missing pages, and mismatched files.</a:t>
            </a:r>
          </a:p>
        </p:txBody>
      </p:sp>
      <p:sp>
        <p:nvSpPr>
          <p:cNvPr id="157" name="t157"/>
          <p:cNvSpPr/>
          <p:nvPr/>
        </p:nvSpPr>
        <p:spPr>
          <a:xfrm>
            <a:off x="5695727" y="5359792"/>
            <a:ext cx="437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1A8F7A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</a:p>
        </p:txBody>
      </p:sp>
      <p:sp>
        <p:nvSpPr>
          <p:cNvPr id="158" name="t158"/>
          <p:cNvSpPr/>
          <p:nvPr/>
        </p:nvSpPr>
        <p:spPr>
          <a:xfrm>
            <a:off x="5737480" y="5526952"/>
            <a:ext cx="437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dirty="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Camunda orchestrates AI-powered IDP as an endpoint — automatically sorting, validating, and routing all incoming documents.</a:t>
            </a:r>
          </a:p>
        </p:txBody>
      </p:sp>
      <p:sp>
        <p:nvSpPr>
          <p:cNvPr id="159" name="r159"/>
          <p:cNvSpPr/>
          <p:nvPr/>
        </p:nvSpPr>
        <p:spPr>
          <a:xfrm>
            <a:off x="5737480" y="5943205"/>
            <a:ext cx="1105442" cy="570000"/>
          </a:xfrm>
          <a:prstGeom prst="rect">
            <a:avLst/>
          </a:prstGeom>
          <a:solidFill>
            <a:srgbClr val="1A8F7A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60" name="t160"/>
          <p:cNvSpPr/>
          <p:nvPr/>
        </p:nvSpPr>
        <p:spPr>
          <a:xfrm>
            <a:off x="5628273" y="5974241"/>
            <a:ext cx="1336666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A8F7A"/>
                </a:solidFill>
                <a:latin typeface="Arial"/>
                <a:ea typeface="Arial"/>
                <a:cs typeface="Arial"/>
                <a:sym typeface="Arial"/>
              </a:rPr>
              <a:t>80–90%</a:t>
            </a:r>
          </a:p>
        </p:txBody>
      </p:sp>
      <p:sp>
        <p:nvSpPr>
          <p:cNvPr id="161" name="t161"/>
          <p:cNvSpPr/>
          <p:nvPr/>
        </p:nvSpPr>
        <p:spPr>
          <a:xfrm>
            <a:off x="5577024" y="6309878"/>
            <a:ext cx="1396666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automation rate for docs</a:t>
            </a:r>
          </a:p>
        </p:txBody>
      </p:sp>
      <p:sp>
        <p:nvSpPr>
          <p:cNvPr id="162" name="r162"/>
          <p:cNvSpPr/>
          <p:nvPr/>
        </p:nvSpPr>
        <p:spPr>
          <a:xfrm>
            <a:off x="7092049" y="5940000"/>
            <a:ext cx="1228991" cy="570000"/>
          </a:xfrm>
          <a:prstGeom prst="rect">
            <a:avLst/>
          </a:prstGeom>
          <a:solidFill>
            <a:srgbClr val="1A8F7A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63" name="t163"/>
          <p:cNvSpPr/>
          <p:nvPr/>
        </p:nvSpPr>
        <p:spPr>
          <a:xfrm>
            <a:off x="7142753" y="5949850"/>
            <a:ext cx="1132567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A8F7A"/>
                </a:solidFill>
                <a:latin typeface="Arial"/>
                <a:ea typeface="Arial"/>
                <a:cs typeface="Arial"/>
                <a:sym typeface="Arial"/>
              </a:rPr>
              <a:t>&lt;2 min</a:t>
            </a:r>
          </a:p>
        </p:txBody>
      </p:sp>
      <p:sp>
        <p:nvSpPr>
          <p:cNvPr id="164" name="t164"/>
          <p:cNvSpPr/>
          <p:nvPr/>
        </p:nvSpPr>
        <p:spPr>
          <a:xfrm>
            <a:off x="7039539" y="6309619"/>
            <a:ext cx="1396666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to sort, validate &amp; route</a:t>
            </a:r>
          </a:p>
        </p:txBody>
      </p:sp>
      <p:sp>
        <p:nvSpPr>
          <p:cNvPr id="165" name="r165"/>
          <p:cNvSpPr/>
          <p:nvPr/>
        </p:nvSpPr>
        <p:spPr>
          <a:xfrm>
            <a:off x="8681479" y="5940000"/>
            <a:ext cx="1058101" cy="570000"/>
          </a:xfrm>
          <a:prstGeom prst="rect">
            <a:avLst/>
          </a:prstGeom>
          <a:solidFill>
            <a:srgbClr val="1A8F7A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66" name="t166"/>
          <p:cNvSpPr/>
          <p:nvPr/>
        </p:nvSpPr>
        <p:spPr>
          <a:xfrm>
            <a:off x="8703272" y="6006193"/>
            <a:ext cx="951910" cy="28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A8F7A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</a:p>
        </p:txBody>
      </p:sp>
      <p:sp>
        <p:nvSpPr>
          <p:cNvPr id="167" name="t167"/>
          <p:cNvSpPr/>
          <p:nvPr/>
        </p:nvSpPr>
        <p:spPr>
          <a:xfrm>
            <a:off x="8523961" y="6350813"/>
            <a:ext cx="1396666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docs/week via AI + IDP</a:t>
            </a:r>
          </a:p>
        </p:txBody>
      </p:sp>
      <p:sp>
        <p:nvSpPr>
          <p:cNvPr id="900" name="t900"/>
          <p:cNvSpPr/>
          <p:nvPr/>
        </p:nvSpPr>
        <p:spPr>
          <a:xfrm>
            <a:off x="232000" y="6659036"/>
            <a:ext cx="11700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camunda.com  |  partners.camunda.com  |  CONFIDENTIAL — PARTNER USE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457200" y="1371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POSITIONING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457200" y="502920"/>
            <a:ext cx="112471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Camunda isn't a replacement. It's the coordination layer above what customers already have.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365760" y="1261872"/>
            <a:ext cx="3657600" cy="384048"/>
          </a:xfrm>
          <a:prstGeom prst="rect">
            <a:avLst/>
          </a:prstGeom>
          <a:solidFill>
            <a:srgbClr val="88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365760" y="126187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THEY HAVE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365760" y="1719072"/>
            <a:ext cx="36576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88B8D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502920" y="181051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RPA (UiPath, AA)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502920" y="213969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Automates individual UI tasks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365760" y="2615184"/>
            <a:ext cx="36576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88B8D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502920" y="270662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iPaaS (MuleSoft, Boomi)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502920" y="303580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Moves data between systems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365760" y="3511296"/>
            <a:ext cx="36576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88B8D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502920" y="3602736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LLM Assistants (Copilot)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502920" y="39319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Answers questions, generates text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365760" y="4407408"/>
            <a:ext cx="36576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88B8D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502920" y="449884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Agent Frameworks (LangChain)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502920" y="482803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Builds and chains agents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65760" y="5303520"/>
            <a:ext cx="36576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88B8D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502920" y="53949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Systems of Record (SAP, SF)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502920" y="572414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Stores and manages domain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4279392" y="1261872"/>
            <a:ext cx="3657600" cy="384048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4279392" y="126187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GAP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4279392" y="1719072"/>
            <a:ext cx="3657600" cy="804672"/>
          </a:xfrm>
          <a:prstGeom prst="rect">
            <a:avLst/>
          </a:prstGeom>
          <a:solidFill>
            <a:srgbClr val="FC5D0D">
              <a:alpha val="85098"/>
            </a:srgbClr>
          </a:solidFill>
          <a:ln w="9525" cap="flat" cmpd="sng">
            <a:solidFill>
              <a:srgbClr val="FC5D0D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4416552" y="181051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end-to-end ownership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4279392" y="2615184"/>
            <a:ext cx="3657600" cy="804672"/>
          </a:xfrm>
          <a:prstGeom prst="rect">
            <a:avLst/>
          </a:prstGeom>
          <a:solidFill>
            <a:srgbClr val="FC5D0D">
              <a:alpha val="85098"/>
            </a:srgbClr>
          </a:solidFill>
          <a:ln w="9525" cap="flat" cmpd="sng">
            <a:solidFill>
              <a:srgbClr val="FC5D0D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4416552" y="270662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long-running state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4279392" y="3511296"/>
            <a:ext cx="3657600" cy="804672"/>
          </a:xfrm>
          <a:prstGeom prst="rect">
            <a:avLst/>
          </a:prstGeom>
          <a:solidFill>
            <a:srgbClr val="FC5D0D">
              <a:alpha val="85098"/>
            </a:srgbClr>
          </a:solidFill>
          <a:ln w="9525" cap="flat" cmpd="sng">
            <a:solidFill>
              <a:srgbClr val="FC5D0D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4416552" y="3602736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audit trail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4279392" y="4407408"/>
            <a:ext cx="3657600" cy="804672"/>
          </a:xfrm>
          <a:prstGeom prst="rect">
            <a:avLst/>
          </a:prstGeom>
          <a:solidFill>
            <a:srgbClr val="FC5D0D">
              <a:alpha val="85098"/>
            </a:srgbClr>
          </a:solidFill>
          <a:ln w="9525" cap="flat" cmpd="sng">
            <a:solidFill>
              <a:srgbClr val="FC5D0D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4416552" y="449884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agent governance at scale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4279392" y="5303520"/>
            <a:ext cx="3657600" cy="804672"/>
          </a:xfrm>
          <a:prstGeom prst="rect">
            <a:avLst/>
          </a:prstGeom>
          <a:solidFill>
            <a:srgbClr val="FC5D0D">
              <a:alpha val="85098"/>
            </a:srgbClr>
          </a:solidFill>
          <a:ln w="9525" cap="flat" cmpd="sng">
            <a:solidFill>
              <a:srgbClr val="FC5D0D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4416552" y="53949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cross-system coordination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8193024" y="1261872"/>
            <a:ext cx="3657600" cy="38404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8193024" y="126187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CAMUNDA'S ROLE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8193024" y="1719072"/>
            <a:ext cx="3657600" cy="804672"/>
          </a:xfrm>
          <a:prstGeom prst="rect">
            <a:avLst/>
          </a:prstGeom>
          <a:solidFill>
            <a:srgbClr val="0F62FE">
              <a:alpha val="85098"/>
            </a:srgbClr>
          </a:solidFill>
          <a:ln w="9525" cap="flat" cmpd="sng">
            <a:solidFill>
              <a:srgbClr val="0F62FE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8330184" y="181051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Orchestrates RPA as a participant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8193024" y="2615184"/>
            <a:ext cx="3657600" cy="804672"/>
          </a:xfrm>
          <a:prstGeom prst="rect">
            <a:avLst/>
          </a:prstGeom>
          <a:solidFill>
            <a:srgbClr val="0F62FE">
              <a:alpha val="85098"/>
            </a:srgbClr>
          </a:solidFill>
          <a:ln w="9525" cap="flat" cmpd="sng">
            <a:solidFill>
              <a:srgbClr val="0F62FE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8330184" y="270662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Governs decisions above iPaaS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8193024" y="3511296"/>
            <a:ext cx="3657600" cy="804672"/>
          </a:xfrm>
          <a:prstGeom prst="rect">
            <a:avLst/>
          </a:prstGeom>
          <a:solidFill>
            <a:srgbClr val="0F62FE">
              <a:alpha val="85098"/>
            </a:srgbClr>
          </a:solidFill>
          <a:ln w="9525" cap="flat" cmpd="sng">
            <a:solidFill>
              <a:srgbClr val="0F62FE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8330184" y="3602736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Embeds LLMs inside real processes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8193024" y="4407408"/>
            <a:ext cx="3657600" cy="804672"/>
          </a:xfrm>
          <a:prstGeom prst="rect">
            <a:avLst/>
          </a:prstGeom>
          <a:solidFill>
            <a:srgbClr val="0F62FE">
              <a:alpha val="85098"/>
            </a:srgbClr>
          </a:solidFill>
          <a:ln w="9525" cap="flat" cmpd="sng">
            <a:solidFill>
              <a:srgbClr val="0F62FE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8330184" y="449884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Governs what frameworks build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8193024" y="5303520"/>
            <a:ext cx="3657600" cy="804672"/>
          </a:xfrm>
          <a:prstGeom prst="rect">
            <a:avLst/>
          </a:prstGeom>
          <a:solidFill>
            <a:srgbClr val="0F62FE">
              <a:alpha val="85098"/>
            </a:srgbClr>
          </a:solidFill>
          <a:ln w="9525" cap="flat" cmpd="sng">
            <a:solidFill>
              <a:srgbClr val="0F62FE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8330184" y="53949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Neutral layer across all SORs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365760" y="6373368"/>
            <a:ext cx="11430000" cy="34747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548640" y="6391656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Camunda doesn't replace the customer's existing stack. It makes the whole stack smarter, safer, and coordinated end-to-end.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6" name="Google Shape;476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2454" y="114296"/>
            <a:ext cx="2369066" cy="3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2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457200" y="1371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5D0D"/>
              </a:buClr>
              <a:buSzPts val="950"/>
              <a:buFont typeface="Arial"/>
              <a:buNone/>
            </a:pPr>
            <a:r>
              <a:rPr lang="en-US" sz="1050" b="1" dirty="0">
                <a:solidFill>
                  <a:srgbClr val="FC5D0D"/>
                </a:solidFill>
                <a:latin typeface="Arial"/>
                <a:ea typeface="Arial"/>
                <a:cs typeface="Arial"/>
                <a:sym typeface="Arial"/>
              </a:rPr>
              <a:t>PARTNER REVENUE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457200" y="502920"/>
            <a:ext cx="112471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Three ways partners monetize Agentic Orchestration — often on the same account.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365760" y="1298448"/>
            <a:ext cx="3611880" cy="5074920"/>
          </a:xfrm>
          <a:prstGeom prst="rect">
            <a:avLst/>
          </a:prstGeom>
          <a:solidFill>
            <a:srgbClr val="FFFFFF">
              <a:alpha val="9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365760" y="1298448"/>
            <a:ext cx="3611880" cy="5029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530352" y="1371600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530352" y="1371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960120" y="1399032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Implementation Services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502920" y="1920240"/>
            <a:ext cx="3337560" cy="365760"/>
          </a:xfrm>
          <a:prstGeom prst="rect">
            <a:avLst/>
          </a:prstGeom>
          <a:solidFill>
            <a:srgbClr val="0F62FE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548640" y="193852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56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56F"/>
                </a:solidFill>
                <a:latin typeface="Arial"/>
                <a:ea typeface="Arial"/>
                <a:cs typeface="Arial"/>
                <a:sym typeface="Arial"/>
              </a:rPr>
              <a:t>💰  $150K–$1M+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502920" y="2450592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2615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2"/>
          <p:cNvSpPr/>
          <p:nvPr/>
        </p:nvSpPr>
        <p:spPr>
          <a:xfrm>
            <a:off x="914400" y="256032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discovery and AO readiness assessment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502920" y="3291840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34564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2"/>
          <p:cNvSpPr/>
          <p:nvPr/>
        </p:nvSpPr>
        <p:spPr>
          <a:xfrm>
            <a:off x="914400" y="340156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case workshops and process modelling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502920" y="4133088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9" name="Google Shape;499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4297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2"/>
          <p:cNvSpPr/>
          <p:nvPr/>
        </p:nvSpPr>
        <p:spPr>
          <a:xfrm>
            <a:off x="914400" y="4242816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design, deployment and integration (SAP, SF, cloud)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502920" y="4974336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51389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2"/>
          <p:cNvSpPr/>
          <p:nvPr/>
        </p:nvSpPr>
        <p:spPr>
          <a:xfrm>
            <a:off x="914400" y="5084064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Testing, go-live support, hypercare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4224528" y="1298448"/>
            <a:ext cx="3611880" cy="5074920"/>
          </a:xfrm>
          <a:prstGeom prst="rect">
            <a:avLst/>
          </a:prstGeom>
          <a:solidFill>
            <a:srgbClr val="FFFFFF">
              <a:alpha val="9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4224528" y="1298448"/>
            <a:ext cx="3611880" cy="502920"/>
          </a:xfrm>
          <a:prstGeom prst="rect">
            <a:avLst/>
          </a:prstGeom>
          <a:solidFill>
            <a:srgbClr val="6967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4389120" y="1371600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4389120" y="1371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4818888" y="1399032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Packaged Solutions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4361688" y="1920240"/>
            <a:ext cx="3337560" cy="365760"/>
          </a:xfrm>
          <a:prstGeom prst="rect">
            <a:avLst/>
          </a:prstGeom>
          <a:solidFill>
            <a:srgbClr val="6967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4407408" y="193852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56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56F"/>
                </a:solidFill>
                <a:latin typeface="Arial"/>
                <a:ea typeface="Arial"/>
                <a:cs typeface="Arial"/>
                <a:sym typeface="Arial"/>
              </a:rPr>
              <a:t>💰  Higher margin, faster close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4361688" y="2450592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" name="Google Shape;512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5696" y="2615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2"/>
          <p:cNvSpPr/>
          <p:nvPr/>
        </p:nvSpPr>
        <p:spPr>
          <a:xfrm>
            <a:off x="4773168" y="256032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Pre-built AO solutions for banking, insurance, healthcare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4361688" y="3291840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5" name="Google Shape;515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5696" y="34564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2"/>
          <p:cNvSpPr/>
          <p:nvPr/>
        </p:nvSpPr>
        <p:spPr>
          <a:xfrm>
            <a:off x="4773168" y="340156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Industry accelerators: months → weeks to value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4361688" y="4133088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8" name="Google Shape;518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5696" y="4297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2"/>
          <p:cNvSpPr/>
          <p:nvPr/>
        </p:nvSpPr>
        <p:spPr>
          <a:xfrm>
            <a:off x="4773168" y="4242816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Quick Start: paid </a:t>
            </a:r>
            <a:r>
              <a:rPr lang="en-US" sz="1100" b="1">
                <a:solidFill>
                  <a:schemeClr val="dk1"/>
                </a:solidFill>
              </a:rPr>
              <a:t>prototype engagement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4361688" y="4974336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1" name="Google Shape;521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5696" y="51389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2"/>
          <p:cNvSpPr/>
          <p:nvPr/>
        </p:nvSpPr>
        <p:spPr>
          <a:xfrm>
            <a:off x="4773168" y="5084064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Proprietary IP = competitive differentiation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8083296" y="1298448"/>
            <a:ext cx="3611880" cy="5074920"/>
          </a:xfrm>
          <a:prstGeom prst="rect">
            <a:avLst/>
          </a:prstGeom>
          <a:solidFill>
            <a:srgbClr val="FFFFFF">
              <a:alpha val="9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8083296" y="1298448"/>
            <a:ext cx="3611880" cy="502920"/>
          </a:xfrm>
          <a:prstGeom prst="rect">
            <a:avLst/>
          </a:prstGeom>
          <a:solidFill>
            <a:srgbClr val="26D07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8247888" y="1371600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8247888" y="1371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8677656" y="1399032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Managed Services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8220456" y="1920240"/>
            <a:ext cx="3337560" cy="365760"/>
          </a:xfrm>
          <a:prstGeom prst="rect">
            <a:avLst/>
          </a:prstGeom>
          <a:solidFill>
            <a:srgbClr val="26D07C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8266176" y="193852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56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FF56F"/>
                </a:solidFill>
                <a:latin typeface="Arial"/>
                <a:ea typeface="Arial"/>
                <a:cs typeface="Arial"/>
                <a:sym typeface="Arial"/>
              </a:rPr>
              <a:t>💰  Recurring revenue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8220456" y="2450592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1" name="Google Shape;531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4464" y="2615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2"/>
          <p:cNvSpPr/>
          <p:nvPr/>
        </p:nvSpPr>
        <p:spPr>
          <a:xfrm>
            <a:off x="8631936" y="256032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Operate and optimize post-deployment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8220456" y="3291840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4464" y="34564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2"/>
          <p:cNvSpPr/>
          <p:nvPr/>
        </p:nvSpPr>
        <p:spPr>
          <a:xfrm>
            <a:off x="8631936" y="340156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governance and monitoring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8220456" y="4133088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7" name="Google Shape;537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4464" y="4297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2"/>
          <p:cNvSpPr/>
          <p:nvPr/>
        </p:nvSpPr>
        <p:spPr>
          <a:xfrm>
            <a:off x="8631936" y="4242816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Centre of Excellence setup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8220456" y="4974336"/>
            <a:ext cx="3337560" cy="713232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0" name="Google Shape;540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4464" y="51389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2"/>
          <p:cNvSpPr/>
          <p:nvPr/>
        </p:nvSpPr>
        <p:spPr>
          <a:xfrm>
            <a:off x="8631936" y="5084064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Upsell: expand AO to more processes and departments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365760" y="6455664"/>
            <a:ext cx="11430000" cy="274320"/>
          </a:xfrm>
          <a:prstGeom prst="rect">
            <a:avLst/>
          </a:prstGeom>
          <a:solidFill>
            <a:srgbClr val="FC5D0D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502920" y="6473952"/>
            <a:ext cx="11155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context: AI services estimated at $350B–$450B (US alone) by 2035–2040  |  Google Cloud / BCG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07040" y="6108192"/>
            <a:ext cx="1371600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14324" y="114300"/>
            <a:ext cx="2369064" cy="3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3"/>
          <p:cNvSpPr/>
          <p:nvPr/>
        </p:nvSpPr>
        <p:spPr>
          <a:xfrm>
            <a:off x="7772400" y="-1371600"/>
            <a:ext cx="5943600" cy="5943600"/>
          </a:xfrm>
          <a:prstGeom prst="ellipse">
            <a:avLst/>
          </a:prstGeom>
          <a:solidFill>
            <a:srgbClr val="FC5D0D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8686800" y="3657600"/>
            <a:ext cx="3657600" cy="3657600"/>
          </a:xfrm>
          <a:prstGeom prst="ellipse">
            <a:avLst/>
          </a:prstGeom>
          <a:solidFill>
            <a:srgbClr val="6967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" name="Google Shape;55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64038" y="132710"/>
            <a:ext cx="256032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3"/>
          <p:cNvSpPr/>
          <p:nvPr/>
        </p:nvSpPr>
        <p:spPr>
          <a:xfrm>
            <a:off x="457200" y="109728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n-US" sz="3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next steps.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457200" y="184708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5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ree ways to get started with customers this quarter</a:t>
            </a:r>
            <a:r>
              <a:rPr lang="en-US" sz="140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457200" y="2423160"/>
            <a:ext cx="6583680" cy="1170432"/>
          </a:xfrm>
          <a:prstGeom prst="rect">
            <a:avLst/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457200" y="2423160"/>
            <a:ext cx="54864" cy="117043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640080" y="2496312"/>
            <a:ext cx="1417320" cy="256032"/>
          </a:xfrm>
          <a:prstGeom prst="rect">
            <a:avLst/>
          </a:prstGeom>
          <a:solidFill>
            <a:srgbClr val="FC5D0D">
              <a:alpha val="8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3"/>
          <p:cNvSpPr/>
          <p:nvPr/>
        </p:nvSpPr>
        <p:spPr>
          <a:xfrm>
            <a:off x="658368" y="2505456"/>
            <a:ext cx="1417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 ENTRY POINT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640080" y="2788920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n-US" sz="14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A. AO Discovery Workshop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640080" y="3099816"/>
            <a:ext cx="6217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050"/>
              <a:buFont typeface="Arial"/>
              <a:buNone/>
            </a:pPr>
            <a:r>
              <a:rPr lang="en-US" sz="115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1–2 day facilitated workshop. Map your customer's most AO-ready process and prototype the first use case.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050"/>
              <a:buFont typeface="Arial"/>
              <a:buNone/>
            </a:pPr>
            <a:r>
              <a:rPr lang="en-US" sz="115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→ Engage your Camunda Partner Manager to co-facilitate.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3"/>
          <p:cNvSpPr/>
          <p:nvPr/>
        </p:nvSpPr>
        <p:spPr>
          <a:xfrm>
            <a:off x="457200" y="3749040"/>
            <a:ext cx="6583680" cy="1170432"/>
          </a:xfrm>
          <a:prstGeom prst="rect">
            <a:avLst/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3"/>
          <p:cNvSpPr/>
          <p:nvPr/>
        </p:nvSpPr>
        <p:spPr>
          <a:xfrm>
            <a:off x="457200" y="3749040"/>
            <a:ext cx="54864" cy="117043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3"/>
          <p:cNvSpPr/>
          <p:nvPr/>
        </p:nvSpPr>
        <p:spPr>
          <a:xfrm>
            <a:off x="640072" y="3822204"/>
            <a:ext cx="2145300" cy="384000"/>
          </a:xfrm>
          <a:prstGeom prst="rect">
            <a:avLst/>
          </a:prstGeom>
          <a:solidFill>
            <a:srgbClr val="FC5D0D">
              <a:alpha val="8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640075" y="3803842"/>
            <a:ext cx="1844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11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EFFORT / HIGH IMPAC</a:t>
            </a:r>
            <a:r>
              <a:rPr lang="en-US" sz="1150" b="1">
                <a:solidFill>
                  <a:schemeClr val="dk1"/>
                </a:solidFill>
              </a:rPr>
              <a:t>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608080" y="4229113"/>
            <a:ext cx="6217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n-US" sz="14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B. Joint Account Review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3"/>
          <p:cNvSpPr/>
          <p:nvPr/>
        </p:nvSpPr>
        <p:spPr>
          <a:xfrm>
            <a:off x="608143" y="4521709"/>
            <a:ext cx="62178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050"/>
              <a:buFont typeface="Arial"/>
              <a:buNone/>
            </a:pPr>
            <a:r>
              <a:rPr lang="en-US" sz="115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60-minute session with your Camunda Partner Manager. Review top accounts, identify AO signals, build a joint pursuit plan.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3"/>
          <p:cNvSpPr/>
          <p:nvPr/>
        </p:nvSpPr>
        <p:spPr>
          <a:xfrm>
            <a:off x="457200" y="5074920"/>
            <a:ext cx="6583680" cy="1170432"/>
          </a:xfrm>
          <a:prstGeom prst="rect">
            <a:avLst/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3"/>
          <p:cNvSpPr/>
          <p:nvPr/>
        </p:nvSpPr>
        <p:spPr>
          <a:xfrm>
            <a:off x="457200" y="5074920"/>
            <a:ext cx="54864" cy="1170432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640074" y="5056526"/>
            <a:ext cx="1844100" cy="347400"/>
          </a:xfrm>
          <a:prstGeom prst="rect">
            <a:avLst/>
          </a:prstGeom>
          <a:solidFill>
            <a:srgbClr val="FC5D0D">
              <a:alpha val="8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"/>
          <p:cNvSpPr/>
          <p:nvPr/>
        </p:nvSpPr>
        <p:spPr>
          <a:xfrm>
            <a:off x="658375" y="5072705"/>
            <a:ext cx="1844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11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PROTECT YOUR OPPORTUNITY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3"/>
          <p:cNvSpPr/>
          <p:nvPr/>
        </p:nvSpPr>
        <p:spPr>
          <a:xfrm>
            <a:off x="640080" y="5440680"/>
            <a:ext cx="6217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n-US" sz="14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C. Deal Registration + ScaleAO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3"/>
          <p:cNvSpPr/>
          <p:nvPr/>
        </p:nvSpPr>
        <p:spPr>
          <a:xfrm>
            <a:off x="640080" y="5751576"/>
            <a:ext cx="6217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A9FF"/>
              </a:buClr>
              <a:buSzPts val="1050"/>
              <a:buFont typeface="Arial"/>
              <a:buNone/>
            </a:pPr>
            <a:r>
              <a:rPr lang="en-US" sz="1150">
                <a:solidFill>
                  <a:srgbClr val="78A9FF"/>
                </a:solidFill>
                <a:latin typeface="Arial"/>
                <a:ea typeface="Arial"/>
                <a:cs typeface="Arial"/>
                <a:sym typeface="Arial"/>
              </a:rPr>
              <a:t>For accounts with a live AO project: register in the Camunda Partner Portal. Apply for ScaleAO for hands-on support to production.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3"/>
          <p:cNvSpPr/>
          <p:nvPr/>
        </p:nvSpPr>
        <p:spPr>
          <a:xfrm>
            <a:off x="7269480" y="1234440"/>
            <a:ext cx="4572000" cy="5257800"/>
          </a:xfrm>
          <a:prstGeom prst="rect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3"/>
          <p:cNvSpPr/>
          <p:nvPr/>
        </p:nvSpPr>
        <p:spPr>
          <a:xfrm>
            <a:off x="7406640" y="1353312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30-DAY PLAN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7452360" y="1874520"/>
            <a:ext cx="347472" cy="347472"/>
          </a:xfrm>
          <a:prstGeom prst="ellipse">
            <a:avLst/>
          </a:prstGeom>
          <a:solidFill>
            <a:srgbClr val="00B0F0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3"/>
          <p:cNvSpPr/>
          <p:nvPr/>
        </p:nvSpPr>
        <p:spPr>
          <a:xfrm>
            <a:off x="7452360" y="18745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3"/>
          <p:cNvSpPr/>
          <p:nvPr/>
        </p:nvSpPr>
        <p:spPr>
          <a:xfrm>
            <a:off x="7909560" y="1856232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Identify 3 target accounts with AO signals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7452360" y="2715768"/>
            <a:ext cx="347472" cy="347472"/>
          </a:xfrm>
          <a:prstGeom prst="ellipse">
            <a:avLst/>
          </a:prstGeom>
          <a:solidFill>
            <a:srgbClr val="00B0F0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3"/>
          <p:cNvSpPr/>
          <p:nvPr/>
        </p:nvSpPr>
        <p:spPr>
          <a:xfrm>
            <a:off x="7452360" y="27157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7909560" y="2697480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 a joint account review with your Camunda PDM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3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00B0F0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3"/>
          <p:cNvSpPr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7909560" y="353872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Download the AO in Practice deck and AO Heatmaps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3"/>
          <p:cNvSpPr/>
          <p:nvPr/>
        </p:nvSpPr>
        <p:spPr>
          <a:xfrm>
            <a:off x="7452360" y="4398264"/>
            <a:ext cx="347472" cy="347472"/>
          </a:xfrm>
          <a:prstGeom prst="ellipse">
            <a:avLst/>
          </a:prstGeom>
          <a:solidFill>
            <a:srgbClr val="00B0F0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7452360" y="439826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7909560" y="4379976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Qualify one opportunity for AI Quick Start or ScaleAO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7452360" y="5239512"/>
            <a:ext cx="347472" cy="347472"/>
          </a:xfrm>
          <a:prstGeom prst="ellipse">
            <a:avLst/>
          </a:prstGeom>
          <a:solidFill>
            <a:srgbClr val="00B0F0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/>
          <p:nvPr/>
        </p:nvSpPr>
        <p:spPr>
          <a:xfrm>
            <a:off x="7452360" y="52395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/>
          <p:nvPr/>
        </p:nvSpPr>
        <p:spPr>
          <a:xfrm>
            <a:off x="7909560" y="522122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the deal in the Partner Portal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camunda.com   |   partners.camunda.com   |   The enterprise platform for agentic orchestration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3178</Words>
  <Application>Microsoft Office PowerPoint</Application>
  <PresentationFormat>Widescreen</PresentationFormat>
  <Paragraphs>457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Aga Kopczynska</cp:lastModifiedBy>
  <cp:revision>4</cp:revision>
  <dcterms:created xsi:type="dcterms:W3CDTF">2026-05-15T09:59:06Z</dcterms:created>
  <dcterms:modified xsi:type="dcterms:W3CDTF">2026-06-03T12:20:49Z</dcterms:modified>
</cp:coreProperties>
</file>